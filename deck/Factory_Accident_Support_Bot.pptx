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I'm building a WhatsApp bot for families of factory-accident victims. Most of the work has gone into stopping it from being confidently wrong, because in a legal crisis that is worse than saying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stakes before any technology. The audience needs to feel why a wrong answer here is not a cosmetic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was found by measurement, not assumption. That is the argument of the whole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judgement rather than effort. The knowledge base was rebuilt from gazette texts: 28 verified chunks, current law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sits after the gates so a repealed-but-relevant chunk cannot score its way past, and before the model so a weak context is never drafted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RAG ranks by similarity. That fails here, because a repealed law is genuinely relevant. It is just not law any more. So legal status is filtered before similarity is considered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only show the version that works. The interesting part is the refusal, and why relaxing the validator would have been the wrong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goes here. Open the web client and send case 4 and case 7: the post-mortem answer, then the weather question that never reaches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Refusing well is a feature here. Each of these is a decision a lawyer has to make, not one I can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two questions. How do you ensure legal accuracy: curated corpus from gazette texts, gates on legal status, a deterministic validator and human handoff when uncertain. How would this scale: a legal content partner, union-driven trust and CSR or small-grant funding.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3A"/>
        </a:solidFill>
      </p:bgPr>
    </p:bg>
    <p:spTree>
      <p:nvGrpSpPr>
        <p:cNvPr id="1" name=""/>
        <p:cNvGrpSpPr/>
        <p:nvPr/>
      </p:nvGrpSpPr>
      <p:grpSpPr>
        <a:xfrm>
          <a:off x="0" y="0"/>
          <a:ext cx="0" cy="0"/>
          <a:chOff x="0" y="0"/>
          <a:chExt cx="0" cy="0"/>
        </a:xfrm>
      </p:grpSpPr>
      <p:sp>
        <p:nvSpPr>
          <p:cNvPr id="2" name="Text 0"/>
          <p:cNvSpPr/>
          <p:nvPr/>
        </p:nvSpPr>
        <p:spPr>
          <a:xfrm>
            <a:off x="594360" y="822960"/>
            <a:ext cx="5486400" cy="228600"/>
          </a:xfrm>
          <a:prstGeom prst="rect">
            <a:avLst/>
          </a:prstGeom>
          <a:noFill/>
          <a:ln/>
        </p:spPr>
        <p:txBody>
          <a:bodyPr wrap="square" lIns="0" tIns="0" rIns="0" bIns="0" rtlCol="0" anchor="ctr"/>
          <a:lstStyle/>
          <a:p>
            <a:pPr indent="0" marL="0">
              <a:buNone/>
            </a:pPr>
            <a:r>
              <a:rPr lang="en-US" sz="1050" b="1" spc="200" kern="0" dirty="0">
                <a:solidFill>
                  <a:srgbClr val="C9D4E8"/>
                </a:solidFill>
                <a:latin typeface="Calibri" pitchFamily="34" charset="0"/>
                <a:ea typeface="Calibri" pitchFamily="34" charset="-122"/>
                <a:cs typeface="Calibri" pitchFamily="34" charset="-120"/>
              </a:rPr>
              <a:t>LUDHIANA, PUNJAB</a:t>
            </a:r>
            <a:endParaRPr lang="en-US" sz="1050" dirty="0"/>
          </a:p>
        </p:txBody>
      </p:sp>
      <p:sp>
        <p:nvSpPr>
          <p:cNvPr id="3" name="Text 1"/>
          <p:cNvSpPr/>
          <p:nvPr/>
        </p:nvSpPr>
        <p:spPr>
          <a:xfrm>
            <a:off x="594360" y="1234440"/>
            <a:ext cx="6675120" cy="201168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Factory Accident</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Support Bot</a:t>
            </a:r>
            <a:endParaRPr lang="en-US" sz="4600" dirty="0"/>
          </a:p>
        </p:txBody>
      </p:sp>
      <p:sp>
        <p:nvSpPr>
          <p:cNvPr id="4" name="Text 2"/>
          <p:cNvSpPr/>
          <p:nvPr/>
        </p:nvSpPr>
        <p:spPr>
          <a:xfrm>
            <a:off x="594360" y="3337560"/>
            <a:ext cx="6309360" cy="822960"/>
          </a:xfrm>
          <a:prstGeom prst="rect">
            <a:avLst/>
          </a:prstGeom>
          <a:noFill/>
          <a:ln/>
        </p:spPr>
        <p:txBody>
          <a:bodyPr wrap="square" lIns="0" tIns="0" rIns="0" bIns="0" rtlCol="0" anchor="ctr"/>
          <a:lstStyle/>
          <a:p>
            <a:pPr indent="0" marL="0">
              <a:buNone/>
            </a:pPr>
            <a:r>
              <a:rPr lang="en-US" sz="1500" dirty="0">
                <a:solidFill>
                  <a:srgbClr val="C9D4E8"/>
                </a:solidFill>
                <a:latin typeface="Calibri" pitchFamily="34" charset="0"/>
                <a:ea typeface="Calibri" pitchFamily="34" charset="-122"/>
                <a:cs typeface="Calibri" pitchFamily="34" charset="-120"/>
              </a:rPr>
              <a:t>A WhatsApp assistant for families of factory-accident victims, built so that it cannot be confidently wrong.</a:t>
            </a:r>
            <a:endParaRPr lang="en-US" sz="1500" dirty="0"/>
          </a:p>
        </p:txBody>
      </p:sp>
      <p:sp>
        <p:nvSpPr>
          <p:cNvPr id="5" name="Shape 3"/>
          <p:cNvSpPr/>
          <p:nvPr/>
        </p:nvSpPr>
        <p:spPr>
          <a:xfrm>
            <a:off x="7635240" y="1234440"/>
            <a:ext cx="3931920" cy="3291840"/>
          </a:xfrm>
          <a:prstGeom prst="rect">
            <a:avLst/>
          </a:prstGeom>
          <a:solidFill>
            <a:srgbClr val="1E2B4D"/>
          </a:solidFill>
          <a:ln/>
        </p:spPr>
      </p:sp>
      <p:sp>
        <p:nvSpPr>
          <p:cNvPr id="6" name="Text 4"/>
          <p:cNvSpPr/>
          <p:nvPr/>
        </p:nvSpPr>
        <p:spPr>
          <a:xfrm>
            <a:off x="7909560" y="1325880"/>
            <a:ext cx="914400" cy="640080"/>
          </a:xfrm>
          <a:prstGeom prst="rect">
            <a:avLst/>
          </a:prstGeom>
          <a:noFill/>
          <a:ln/>
        </p:spPr>
        <p:txBody>
          <a:bodyPr wrap="square" lIns="0" tIns="0" rIns="0" bIns="0" rtlCol="0" anchor="ctr"/>
          <a:lstStyle/>
          <a:p>
            <a:pPr indent="0" marL="0">
              <a:buNone/>
            </a:pPr>
            <a:r>
              <a:rPr lang="en-US" sz="4000" dirty="0">
                <a:solidFill>
                  <a:srgbClr val="A81E14"/>
                </a:solidFill>
                <a:latin typeface="Cambria" pitchFamily="34" charset="0"/>
                <a:ea typeface="Cambria" pitchFamily="34" charset="-122"/>
                <a:cs typeface="Cambria" pitchFamily="34" charset="-120"/>
              </a:rPr>
              <a:t>“</a:t>
            </a:r>
            <a:endParaRPr lang="en-US" sz="4000" dirty="0"/>
          </a:p>
        </p:txBody>
      </p:sp>
      <p:sp>
        <p:nvSpPr>
          <p:cNvPr id="7" name="Text 5"/>
          <p:cNvSpPr/>
          <p:nvPr/>
        </p:nvSpPr>
        <p:spPr>
          <a:xfrm>
            <a:off x="7955280" y="1965960"/>
            <a:ext cx="3291840" cy="1371600"/>
          </a:xfrm>
          <a:prstGeom prst="rect">
            <a:avLst/>
          </a:prstGeom>
          <a:noFill/>
          <a:ln/>
        </p:spPr>
        <p:txBody>
          <a:bodyPr wrap="square" lIns="0" tIns="0" rIns="0" bIns="0" rtlCol="0" anchor="ctr"/>
          <a:lstStyle/>
          <a:p>
            <a:pPr indent="0" marL="0">
              <a:lnSpc>
                <a:spcPts val="2600"/>
              </a:lnSpc>
              <a:buNone/>
            </a:pPr>
            <a:r>
              <a:rPr lang="en-US" sz="1900" i="1" dirty="0">
                <a:solidFill>
                  <a:srgbClr val="FFFFFF"/>
                </a:solidFill>
                <a:latin typeface="Cambria" pitchFamily="34" charset="0"/>
                <a:ea typeface="Cambria" pitchFamily="34" charset="-122"/>
                <a:cs typeface="Cambria" pitchFamily="34" charset="-120"/>
              </a:rPr>
              <a:t>In a legal crisis, a confidently wrong answer is worse than no answer.</a:t>
            </a:r>
            <a:endParaRPr lang="en-US" sz="1900" dirty="0"/>
          </a:p>
        </p:txBody>
      </p:sp>
      <p:sp>
        <p:nvSpPr>
          <p:cNvPr id="8" name="Text 6"/>
          <p:cNvSpPr/>
          <p:nvPr/>
        </p:nvSpPr>
        <p:spPr>
          <a:xfrm>
            <a:off x="7955280" y="3611880"/>
            <a:ext cx="3291840" cy="548640"/>
          </a:xfrm>
          <a:prstGeom prst="rect">
            <a:avLst/>
          </a:prstGeom>
          <a:noFill/>
          <a:ln/>
        </p:spPr>
        <p:txBody>
          <a:bodyPr wrap="square" lIns="0" tIns="0" rIns="0" bIns="0" rtlCol="0" anchor="ctr"/>
          <a:lstStyle/>
          <a:p>
            <a:pPr indent="0" marL="0">
              <a:buNone/>
            </a:pPr>
            <a:r>
              <a:rPr lang="en-US" sz="1100" dirty="0">
                <a:solidFill>
                  <a:srgbClr val="8A929E"/>
                </a:solidFill>
                <a:latin typeface="Calibri" pitchFamily="34" charset="0"/>
                <a:ea typeface="Calibri" pitchFamily="34" charset="-122"/>
                <a:cs typeface="Calibri" pitchFamily="34" charset="-120"/>
              </a:rPr>
              <a:t>The design rule everything else follows from</a:t>
            </a:r>
            <a:endParaRPr lang="en-US" sz="1100" dirty="0"/>
          </a:p>
        </p:txBody>
      </p:sp>
      <p:sp>
        <p:nvSpPr>
          <p:cNvPr id="9" name="Text 7"/>
          <p:cNvSpPr/>
          <p:nvPr/>
        </p:nvSpPr>
        <p:spPr>
          <a:xfrm>
            <a:off x="594360" y="5120640"/>
            <a:ext cx="10607040" cy="320040"/>
          </a:xfrm>
          <a:prstGeom prst="rect">
            <a:avLst/>
          </a:prstGeom>
          <a:noFill/>
          <a:ln/>
        </p:spPr>
        <p:txBody>
          <a:bodyPr wrap="square" lIns="0" tIns="0" rIns="0" bIns="0" rtlCol="0" anchor="ctr"/>
          <a:lstStyle/>
          <a:p>
            <a:pPr indent="0" marL="0">
              <a:buNone/>
            </a:pPr>
            <a:r>
              <a:rPr lang="en-US" sz="1200" dirty="0">
                <a:solidFill>
                  <a:srgbClr val="C9D4E8"/>
                </a:solidFill>
                <a:latin typeface="Calibri" pitchFamily="34" charset="0"/>
                <a:ea typeface="Calibri" pitchFamily="34" charset="-122"/>
                <a:cs typeface="Calibri" pitchFamily="34" charset="-120"/>
              </a:rPr>
              <a:t>Retrieval-gated RAG  ·  deterministic output validation  ·  human handoff</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94360" y="457200"/>
            <a:ext cx="5486400" cy="228600"/>
          </a:xfrm>
          <a:prstGeom prst="rect">
            <a:avLst/>
          </a:prstGeom>
          <a:noFill/>
          <a:ln/>
        </p:spPr>
        <p:txBody>
          <a:bodyPr wrap="square" lIns="0" tIns="0" rIns="0" bIns="0" rtlCol="0" anchor="ctr"/>
          <a:lstStyle/>
          <a:p>
            <a:pPr indent="0" marL="0">
              <a:buNone/>
            </a:pPr>
            <a:r>
              <a:rPr lang="en-US" sz="1050" b="1" spc="200" kern="0" dirty="0">
                <a:solidFill>
                  <a:srgbClr val="8A929E"/>
                </a:solidFill>
                <a:latin typeface="Calibri" pitchFamily="34" charset="0"/>
                <a:ea typeface="Calibri" pitchFamily="34" charset="-122"/>
                <a:cs typeface="Calibri" pitchFamily="34" charset="-120"/>
              </a:rPr>
              <a:t>THE SITUATION</a:t>
            </a:r>
            <a:endParaRPr lang="en-US" sz="1050" dirty="0"/>
          </a:p>
        </p:txBody>
      </p:sp>
      <p:sp>
        <p:nvSpPr>
          <p:cNvPr id="3" name="Text 1"/>
          <p:cNvSpPr/>
          <p:nvPr/>
        </p:nvSpPr>
        <p:spPr>
          <a:xfrm>
            <a:off x="594360" y="777240"/>
            <a:ext cx="10607040" cy="822960"/>
          </a:xfrm>
          <a:prstGeom prst="rect">
            <a:avLst/>
          </a:prstGeom>
          <a:noFill/>
          <a:ln/>
        </p:spPr>
        <p:txBody>
          <a:bodyPr wrap="square" lIns="0" tIns="0" rIns="0" bIns="0" rtlCol="0" anchor="ctr"/>
          <a:lstStyle/>
          <a:p>
            <a:pPr indent="0" marL="0">
              <a:buNone/>
            </a:pPr>
            <a:r>
              <a:rPr lang="en-US" sz="3400" b="1" dirty="0">
                <a:solidFill>
                  <a:srgbClr val="16203A"/>
                </a:solidFill>
                <a:latin typeface="Cambria" pitchFamily="34" charset="0"/>
                <a:ea typeface="Cambria" pitchFamily="34" charset="-122"/>
                <a:cs typeface="Cambria" pitchFamily="34" charset="-120"/>
              </a:rPr>
              <a:t>The first 72 hours decide the claim</a:t>
            </a:r>
            <a:endParaRPr lang="en-US" sz="3400" dirty="0"/>
          </a:p>
        </p:txBody>
      </p:sp>
      <p:sp>
        <p:nvSpPr>
          <p:cNvPr id="4" name="Text 2"/>
          <p:cNvSpPr/>
          <p:nvPr/>
        </p:nvSpPr>
        <p:spPr>
          <a:xfrm>
            <a:off x="594360" y="1828800"/>
            <a:ext cx="5852160" cy="2194560"/>
          </a:xfrm>
          <a:prstGeom prst="rect">
            <a:avLst/>
          </a:prstGeom>
          <a:noFill/>
          <a:ln/>
        </p:spPr>
        <p:txBody>
          <a:bodyPr wrap="square" lIns="0" tIns="0" rIns="0" bIns="0" rtlCol="0" anchor="ctr"/>
          <a:lstStyle/>
          <a:p>
            <a:pPr indent="0" marL="0">
              <a:lnSpc>
                <a:spcPts val="2300"/>
              </a:lnSpc>
              <a:spcAft>
                <a:spcPts val="1000"/>
              </a:spcAft>
              <a:buNone/>
            </a:pPr>
            <a:r>
              <a:rPr lang="en-US" sz="1500" dirty="0">
                <a:solidFill>
                  <a:srgbClr val="4A5462"/>
                </a:solidFill>
                <a:latin typeface="Calibri" pitchFamily="34" charset="0"/>
                <a:ea typeface="Calibri" pitchFamily="34" charset="-122"/>
                <a:cs typeface="Calibri" pitchFamily="34" charset="-120"/>
              </a:rPr>
              <a:t>A worker dies on a factory floor in Ludhiana. In the days that follow, his family must secure a post-mortem, get an FIR registered and refuse the settlement they are offered at the gate.</a:t>
            </a:r>
            <a:endParaRPr lang="en-US" sz="1500" dirty="0"/>
          </a:p>
          <a:p>
            <a:pPr indent="0" marL="0">
              <a:lnSpc>
                <a:spcPts val="2300"/>
              </a:lnSpc>
              <a:buNone/>
            </a:pPr>
            <a:r>
              <a:rPr lang="en-US" sz="1500" dirty="0">
                <a:solidFill>
                  <a:srgbClr val="4A5462"/>
                </a:solidFill>
                <a:latin typeface="Calibri" pitchFamily="34" charset="0"/>
                <a:ea typeface="Calibri" pitchFamily="34" charset="-122"/>
                <a:cs typeface="Calibri" pitchFamily="34" charset="-120"/>
              </a:rPr>
              <a:t>They are grieving, often not literate in English and getting advice from whoever is nearby. A wrong figure or a wrong office costs them months they do not have, or the entire claim.</a:t>
            </a:r>
            <a:endParaRPr lang="en-US" sz="1500" dirty="0"/>
          </a:p>
        </p:txBody>
      </p:sp>
      <p:sp>
        <p:nvSpPr>
          <p:cNvPr id="5" name="Shape 3"/>
          <p:cNvSpPr/>
          <p:nvPr/>
        </p:nvSpPr>
        <p:spPr>
          <a:xfrm>
            <a:off x="6858000" y="1783080"/>
            <a:ext cx="4709160" cy="1051560"/>
          </a:xfrm>
          <a:prstGeom prst="rect">
            <a:avLst/>
          </a:prstGeom>
          <a:solidFill>
            <a:srgbClr val="FFFFFF"/>
          </a:solidFill>
          <a:ln w="12700">
            <a:solidFill>
              <a:srgbClr val="D8DCE3"/>
            </a:solidFill>
            <a:prstDash val="solid"/>
          </a:ln>
        </p:spPr>
      </p:sp>
      <p:sp>
        <p:nvSpPr>
          <p:cNvPr id="6" name="Text 4"/>
          <p:cNvSpPr/>
          <p:nvPr/>
        </p:nvSpPr>
        <p:spPr>
          <a:xfrm>
            <a:off x="7086600" y="1892808"/>
            <a:ext cx="1828800" cy="457200"/>
          </a:xfrm>
          <a:prstGeom prst="rect">
            <a:avLst/>
          </a:prstGeom>
          <a:noFill/>
          <a:ln/>
        </p:spPr>
        <p:txBody>
          <a:bodyPr wrap="square" lIns="0" tIns="0" rIns="0" bIns="0" rtlCol="0" anchor="ctr"/>
          <a:lstStyle/>
          <a:p>
            <a:pPr indent="0" marL="0">
              <a:buNone/>
            </a:pPr>
            <a:r>
              <a:rPr lang="en-US" sz="2200" b="1" dirty="0">
                <a:solidFill>
                  <a:srgbClr val="16203A"/>
                </a:solidFill>
                <a:latin typeface="Cambria" pitchFamily="34" charset="0"/>
                <a:ea typeface="Cambria" pitchFamily="34" charset="-122"/>
                <a:cs typeface="Cambria" pitchFamily="34" charset="-120"/>
              </a:rPr>
              <a:t>2 years</a:t>
            </a:r>
            <a:endParaRPr lang="en-US" sz="2200" dirty="0"/>
          </a:p>
        </p:txBody>
      </p:sp>
      <p:sp>
        <p:nvSpPr>
          <p:cNvPr id="7" name="Text 5"/>
          <p:cNvSpPr/>
          <p:nvPr/>
        </p:nvSpPr>
        <p:spPr>
          <a:xfrm>
            <a:off x="7086600" y="2331720"/>
            <a:ext cx="4251960" cy="457200"/>
          </a:xfrm>
          <a:prstGeom prst="rect">
            <a:avLst/>
          </a:prstGeom>
          <a:noFill/>
          <a:ln/>
        </p:spPr>
        <p:txBody>
          <a:bodyPr wrap="square" lIns="0" tIns="0" rIns="0" bIns="0" rtlCol="0" anchor="ctr"/>
          <a:lstStyle/>
          <a:p>
            <a:pPr indent="0" marL="0">
              <a:buNone/>
            </a:pPr>
            <a:r>
              <a:rPr lang="en-US" sz="1150" dirty="0">
                <a:solidFill>
                  <a:srgbClr val="4A5462"/>
                </a:solidFill>
                <a:latin typeface="Calibri" pitchFamily="34" charset="0"/>
                <a:ea typeface="Calibri" pitchFamily="34" charset="-122"/>
                <a:cs typeface="Calibri" pitchFamily="34" charset="-120"/>
              </a:rPr>
              <a:t>Hard deadline to file a compensation claim from the date of death</a:t>
            </a:r>
            <a:endParaRPr lang="en-US" sz="1150" dirty="0"/>
          </a:p>
        </p:txBody>
      </p:sp>
      <p:sp>
        <p:nvSpPr>
          <p:cNvPr id="8" name="Shape 6"/>
          <p:cNvSpPr/>
          <p:nvPr/>
        </p:nvSpPr>
        <p:spPr>
          <a:xfrm>
            <a:off x="6858000" y="3017520"/>
            <a:ext cx="4709160" cy="1051560"/>
          </a:xfrm>
          <a:prstGeom prst="rect">
            <a:avLst/>
          </a:prstGeom>
          <a:solidFill>
            <a:srgbClr val="FFFFFF"/>
          </a:solidFill>
          <a:ln w="12700">
            <a:solidFill>
              <a:srgbClr val="D8DCE3"/>
            </a:solidFill>
            <a:prstDash val="solid"/>
          </a:ln>
        </p:spPr>
      </p:sp>
      <p:sp>
        <p:nvSpPr>
          <p:cNvPr id="9" name="Text 7"/>
          <p:cNvSpPr/>
          <p:nvPr/>
        </p:nvSpPr>
        <p:spPr>
          <a:xfrm>
            <a:off x="7086600" y="3127248"/>
            <a:ext cx="1828800" cy="457200"/>
          </a:xfrm>
          <a:prstGeom prst="rect">
            <a:avLst/>
          </a:prstGeom>
          <a:noFill/>
          <a:ln/>
        </p:spPr>
        <p:txBody>
          <a:bodyPr wrap="square" lIns="0" tIns="0" rIns="0" bIns="0" rtlCol="0" anchor="ctr"/>
          <a:lstStyle/>
          <a:p>
            <a:pPr indent="0" marL="0">
              <a:buNone/>
            </a:pPr>
            <a:r>
              <a:rPr lang="en-US" sz="2200" b="1" dirty="0">
                <a:solidFill>
                  <a:srgbClr val="A81E14"/>
                </a:solidFill>
                <a:latin typeface="Cambria" pitchFamily="34" charset="0"/>
                <a:ea typeface="Cambria" pitchFamily="34" charset="-122"/>
                <a:cs typeface="Cambria" pitchFamily="34" charset="-120"/>
              </a:rPr>
              <a:t>Hours</a:t>
            </a:r>
            <a:endParaRPr lang="en-US" sz="2200" dirty="0"/>
          </a:p>
        </p:txBody>
      </p:sp>
      <p:sp>
        <p:nvSpPr>
          <p:cNvPr id="10" name="Text 8"/>
          <p:cNvSpPr/>
          <p:nvPr/>
        </p:nvSpPr>
        <p:spPr>
          <a:xfrm>
            <a:off x="7086600" y="3566160"/>
            <a:ext cx="4251960" cy="457200"/>
          </a:xfrm>
          <a:prstGeom prst="rect">
            <a:avLst/>
          </a:prstGeom>
          <a:noFill/>
          <a:ln/>
        </p:spPr>
        <p:txBody>
          <a:bodyPr wrap="square" lIns="0" tIns="0" rIns="0" bIns="0" rtlCol="0" anchor="ctr"/>
          <a:lstStyle/>
          <a:p>
            <a:pPr indent="0" marL="0">
              <a:buNone/>
            </a:pPr>
            <a:r>
              <a:rPr lang="en-US" sz="1150" dirty="0">
                <a:solidFill>
                  <a:srgbClr val="4A5462"/>
                </a:solidFill>
                <a:latin typeface="Calibri" pitchFamily="34" charset="0"/>
                <a:ea typeface="Calibri" pitchFamily="34" charset="-122"/>
                <a:cs typeface="Calibri" pitchFamily="34" charset="-120"/>
              </a:rPr>
              <a:t>The window to insist on a post-mortem before evidence is lost</a:t>
            </a:r>
            <a:endParaRPr lang="en-US" sz="1150" dirty="0"/>
          </a:p>
        </p:txBody>
      </p:sp>
      <p:sp>
        <p:nvSpPr>
          <p:cNvPr id="11" name="Shape 9"/>
          <p:cNvSpPr/>
          <p:nvPr/>
        </p:nvSpPr>
        <p:spPr>
          <a:xfrm>
            <a:off x="6858000" y="4251960"/>
            <a:ext cx="4709160" cy="1051560"/>
          </a:xfrm>
          <a:prstGeom prst="rect">
            <a:avLst/>
          </a:prstGeom>
          <a:solidFill>
            <a:srgbClr val="FFFFFF"/>
          </a:solidFill>
          <a:ln w="12700">
            <a:solidFill>
              <a:srgbClr val="D8DCE3"/>
            </a:solidFill>
            <a:prstDash val="solid"/>
          </a:ln>
        </p:spPr>
      </p:sp>
      <p:sp>
        <p:nvSpPr>
          <p:cNvPr id="12" name="Text 10"/>
          <p:cNvSpPr/>
          <p:nvPr/>
        </p:nvSpPr>
        <p:spPr>
          <a:xfrm>
            <a:off x="7086600" y="4361688"/>
            <a:ext cx="1828800" cy="457200"/>
          </a:xfrm>
          <a:prstGeom prst="rect">
            <a:avLst/>
          </a:prstGeom>
          <a:noFill/>
          <a:ln/>
        </p:spPr>
        <p:txBody>
          <a:bodyPr wrap="square" lIns="0" tIns="0" rIns="0" bIns="0" rtlCol="0" anchor="ctr"/>
          <a:lstStyle/>
          <a:p>
            <a:pPr indent="0" marL="0">
              <a:buNone/>
            </a:pPr>
            <a:r>
              <a:rPr lang="en-US" sz="2200" b="1" dirty="0">
                <a:solidFill>
                  <a:srgbClr val="A81E14"/>
                </a:solidFill>
                <a:latin typeface="Cambria" pitchFamily="34" charset="0"/>
                <a:ea typeface="Cambria" pitchFamily="34" charset="-122"/>
                <a:cs typeface="Cambria" pitchFamily="34" charset="-120"/>
              </a:rPr>
              <a:t>Full &amp; final</a:t>
            </a:r>
            <a:endParaRPr lang="en-US" sz="2200" dirty="0"/>
          </a:p>
        </p:txBody>
      </p:sp>
      <p:sp>
        <p:nvSpPr>
          <p:cNvPr id="13" name="Text 11"/>
          <p:cNvSpPr/>
          <p:nvPr/>
        </p:nvSpPr>
        <p:spPr>
          <a:xfrm>
            <a:off x="7086600" y="4800600"/>
            <a:ext cx="4251960" cy="457200"/>
          </a:xfrm>
          <a:prstGeom prst="rect">
            <a:avLst/>
          </a:prstGeom>
          <a:noFill/>
          <a:ln/>
        </p:spPr>
        <p:txBody>
          <a:bodyPr wrap="square" lIns="0" tIns="0" rIns="0" bIns="0" rtlCol="0" anchor="ctr"/>
          <a:lstStyle/>
          <a:p>
            <a:pPr indent="0" marL="0">
              <a:buNone/>
            </a:pPr>
            <a:r>
              <a:rPr lang="en-US" sz="1150" dirty="0">
                <a:solidFill>
                  <a:srgbClr val="4A5462"/>
                </a:solidFill>
                <a:latin typeface="Calibri" pitchFamily="34" charset="0"/>
                <a:ea typeface="Calibri" pitchFamily="34" charset="-122"/>
                <a:cs typeface="Calibri" pitchFamily="34" charset="-120"/>
              </a:rPr>
              <a:t>The wording on the paper a widow is asked to sign at the factory gate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94360" y="457200"/>
            <a:ext cx="5486400" cy="228600"/>
          </a:xfrm>
          <a:prstGeom prst="rect">
            <a:avLst/>
          </a:prstGeom>
          <a:noFill/>
          <a:ln/>
        </p:spPr>
        <p:txBody>
          <a:bodyPr wrap="square" lIns="0" tIns="0" rIns="0" bIns="0" rtlCol="0" anchor="ctr"/>
          <a:lstStyle/>
          <a:p>
            <a:pPr indent="0" marL="0">
              <a:buNone/>
            </a:pPr>
            <a:r>
              <a:rPr lang="en-US" sz="1050" b="1" spc="200" kern="0" dirty="0">
                <a:solidFill>
                  <a:srgbClr val="8A929E"/>
                </a:solidFill>
                <a:latin typeface="Calibri" pitchFamily="34" charset="0"/>
                <a:ea typeface="Calibri" pitchFamily="34" charset="-122"/>
                <a:cs typeface="Calibri" pitchFamily="34" charset="-120"/>
              </a:rPr>
              <a:t>THE CORE PROBLEM</a:t>
            </a:r>
            <a:endParaRPr lang="en-US" sz="1050" dirty="0"/>
          </a:p>
        </p:txBody>
      </p:sp>
      <p:sp>
        <p:nvSpPr>
          <p:cNvPr id="3" name="Text 1"/>
          <p:cNvSpPr/>
          <p:nvPr/>
        </p:nvSpPr>
        <p:spPr>
          <a:xfrm>
            <a:off x="594360" y="777240"/>
            <a:ext cx="10607040" cy="822960"/>
          </a:xfrm>
          <a:prstGeom prst="rect">
            <a:avLst/>
          </a:prstGeom>
          <a:noFill/>
          <a:ln/>
        </p:spPr>
        <p:txBody>
          <a:bodyPr wrap="square" lIns="0" tIns="0" rIns="0" bIns="0" rtlCol="0" anchor="ctr"/>
          <a:lstStyle/>
          <a:p>
            <a:pPr indent="0" marL="0">
              <a:buNone/>
            </a:pPr>
            <a:r>
              <a:rPr lang="en-US" sz="3400" b="1" dirty="0">
                <a:solidFill>
                  <a:srgbClr val="16203A"/>
                </a:solidFill>
                <a:latin typeface="Cambria" pitchFamily="34" charset="0"/>
                <a:ea typeface="Cambria" pitchFamily="34" charset="-122"/>
                <a:cs typeface="Cambria" pitchFamily="34" charset="-120"/>
              </a:rPr>
              <a:t>The obvious safety mechanisms do not work</a:t>
            </a:r>
            <a:endParaRPr lang="en-US" sz="3400" dirty="0"/>
          </a:p>
        </p:txBody>
      </p:sp>
      <p:sp>
        <p:nvSpPr>
          <p:cNvPr id="4" name="Shape 2"/>
          <p:cNvSpPr/>
          <p:nvPr/>
        </p:nvSpPr>
        <p:spPr>
          <a:xfrm>
            <a:off x="594360" y="1828800"/>
            <a:ext cx="384048" cy="384048"/>
          </a:xfrm>
          <a:prstGeom prst="ellipse">
            <a:avLst/>
          </a:prstGeom>
          <a:solidFill>
            <a:srgbClr val="A81E14"/>
          </a:solidFill>
          <a:ln/>
        </p:spPr>
      </p:sp>
      <p:sp>
        <p:nvSpPr>
          <p:cNvPr id="5" name="Text 3"/>
          <p:cNvSpPr/>
          <p:nvPr/>
        </p:nvSpPr>
        <p:spPr>
          <a:xfrm>
            <a:off x="594360"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88720" y="1783080"/>
            <a:ext cx="10332720" cy="365760"/>
          </a:xfrm>
          <a:prstGeom prst="rect">
            <a:avLst/>
          </a:prstGeom>
          <a:noFill/>
          <a:ln/>
        </p:spPr>
        <p:txBody>
          <a:bodyPr wrap="square" lIns="0" tIns="0" rIns="0" bIns="0" rtlCol="0" anchor="ctr"/>
          <a:lstStyle/>
          <a:p>
            <a:pPr indent="0" marL="0">
              <a:buNone/>
            </a:pPr>
            <a:r>
              <a:rPr lang="en-US" sz="1900" b="1" dirty="0">
                <a:solidFill>
                  <a:srgbClr val="16203A"/>
                </a:solidFill>
                <a:latin typeface="Cambria" pitchFamily="34" charset="0"/>
                <a:ea typeface="Cambria" pitchFamily="34" charset="-122"/>
                <a:cs typeface="Cambria" pitchFamily="34" charset="-120"/>
              </a:rPr>
              <a:t>A similarity score cannot tell scope</a:t>
            </a:r>
            <a:endParaRPr lang="en-US" sz="1900" dirty="0"/>
          </a:p>
        </p:txBody>
      </p:sp>
      <p:sp>
        <p:nvSpPr>
          <p:cNvPr id="7" name="Text 5"/>
          <p:cNvSpPr/>
          <p:nvPr/>
        </p:nvSpPr>
        <p:spPr>
          <a:xfrm>
            <a:off x="1188720" y="2167128"/>
            <a:ext cx="10241280" cy="777240"/>
          </a:xfrm>
          <a:prstGeom prst="rect">
            <a:avLst/>
          </a:prstGeom>
          <a:noFill/>
          <a:ln/>
        </p:spPr>
        <p:txBody>
          <a:bodyPr wrap="square" lIns="0" tIns="0" rIns="0" bIns="0" rtlCol="0" anchor="ctr"/>
          <a:lstStyle/>
          <a:p>
            <a:pPr indent="0" marL="0">
              <a:lnSpc>
                <a:spcPts val="2000"/>
              </a:lnSpc>
              <a:buNone/>
            </a:pPr>
            <a:r>
              <a:rPr lang="en-US" sz="1350" dirty="0">
                <a:solidFill>
                  <a:srgbClr val="4A5462"/>
                </a:solidFill>
                <a:latin typeface="Calibri" pitchFamily="34" charset="0"/>
                <a:ea typeface="Calibri" pitchFamily="34" charset="-122"/>
                <a:cs typeface="Calibri" pitchFamily="34" charset="-120"/>
              </a:rPr>
              <a:t>An off-topic question about the weather scored 0.653, higher than three legitimate questions, including “how much exactly will we get” at 0.598. The bands are inverted, so no threshold separates them.</a:t>
            </a:r>
            <a:endParaRPr lang="en-US" sz="1350" dirty="0"/>
          </a:p>
        </p:txBody>
      </p:sp>
      <p:sp>
        <p:nvSpPr>
          <p:cNvPr id="8" name="Shape 6"/>
          <p:cNvSpPr/>
          <p:nvPr/>
        </p:nvSpPr>
        <p:spPr>
          <a:xfrm>
            <a:off x="594360" y="3200400"/>
            <a:ext cx="384048" cy="384048"/>
          </a:xfrm>
          <a:prstGeom prst="ellipse">
            <a:avLst/>
          </a:prstGeom>
          <a:solidFill>
            <a:srgbClr val="A81E14"/>
          </a:solidFill>
          <a:ln/>
        </p:spPr>
      </p:sp>
      <p:sp>
        <p:nvSpPr>
          <p:cNvPr id="9" name="Text 7"/>
          <p:cNvSpPr/>
          <p:nvPr/>
        </p:nvSpPr>
        <p:spPr>
          <a:xfrm>
            <a:off x="594360" y="3200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88720" y="3154680"/>
            <a:ext cx="10332720" cy="365760"/>
          </a:xfrm>
          <a:prstGeom prst="rect">
            <a:avLst/>
          </a:prstGeom>
          <a:noFill/>
          <a:ln/>
        </p:spPr>
        <p:txBody>
          <a:bodyPr wrap="square" lIns="0" tIns="0" rIns="0" bIns="0" rtlCol="0" anchor="ctr"/>
          <a:lstStyle/>
          <a:p>
            <a:pPr indent="0" marL="0">
              <a:buNone/>
            </a:pPr>
            <a:r>
              <a:rPr lang="en-US" sz="1900" b="1" dirty="0">
                <a:solidFill>
                  <a:srgbClr val="16203A"/>
                </a:solidFill>
                <a:latin typeface="Cambria" pitchFamily="34" charset="0"/>
                <a:ea typeface="Cambria" pitchFamily="34" charset="-122"/>
                <a:cs typeface="Cambria" pitchFamily="34" charset="-120"/>
              </a:rPr>
              <a:t>A high score can be a repealed statute</a:t>
            </a:r>
            <a:endParaRPr lang="en-US" sz="1900" dirty="0"/>
          </a:p>
        </p:txBody>
      </p:sp>
      <p:sp>
        <p:nvSpPr>
          <p:cNvPr id="11" name="Text 9"/>
          <p:cNvSpPr/>
          <p:nvPr/>
        </p:nvSpPr>
        <p:spPr>
          <a:xfrm>
            <a:off x="1188720" y="3538728"/>
            <a:ext cx="10241280" cy="777240"/>
          </a:xfrm>
          <a:prstGeom prst="rect">
            <a:avLst/>
          </a:prstGeom>
          <a:noFill/>
          <a:ln/>
        </p:spPr>
        <p:txBody>
          <a:bodyPr wrap="square" lIns="0" tIns="0" rIns="0" bIns="0" rtlCol="0" anchor="ctr"/>
          <a:lstStyle/>
          <a:p>
            <a:pPr indent="0" marL="0">
              <a:lnSpc>
                <a:spcPts val="2000"/>
              </a:lnSpc>
              <a:buNone/>
            </a:pPr>
            <a:r>
              <a:rPr lang="en-US" sz="1350" dirty="0">
                <a:solidFill>
                  <a:srgbClr val="4A5462"/>
                </a:solidFill>
                <a:latin typeface="Calibri" pitchFamily="34" charset="0"/>
                <a:ea typeface="Calibri" pitchFamily="34" charset="-122"/>
                <a:cs typeface="Calibri" pitchFamily="34" charset="-120"/>
              </a:rPr>
              <a:t>The Factories Act 1948 chunk is genuinely the most relevant text for “what must the factory do”. It is simply no longer law. Similarity has no opinion about that.</a:t>
            </a:r>
            <a:endParaRPr lang="en-US" sz="1350" dirty="0"/>
          </a:p>
        </p:txBody>
      </p:sp>
      <p:sp>
        <p:nvSpPr>
          <p:cNvPr id="12" name="Shape 10"/>
          <p:cNvSpPr/>
          <p:nvPr/>
        </p:nvSpPr>
        <p:spPr>
          <a:xfrm>
            <a:off x="594360" y="4572000"/>
            <a:ext cx="384048" cy="384048"/>
          </a:xfrm>
          <a:prstGeom prst="ellipse">
            <a:avLst/>
          </a:prstGeom>
          <a:solidFill>
            <a:srgbClr val="A81E14"/>
          </a:solidFill>
          <a:ln/>
        </p:spPr>
      </p:sp>
      <p:sp>
        <p:nvSpPr>
          <p:cNvPr id="13" name="Text 11"/>
          <p:cNvSpPr/>
          <p:nvPr/>
        </p:nvSpPr>
        <p:spPr>
          <a:xfrm>
            <a:off x="594360"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188720" y="4526280"/>
            <a:ext cx="10332720" cy="365760"/>
          </a:xfrm>
          <a:prstGeom prst="rect">
            <a:avLst/>
          </a:prstGeom>
          <a:noFill/>
          <a:ln/>
        </p:spPr>
        <p:txBody>
          <a:bodyPr wrap="square" lIns="0" tIns="0" rIns="0" bIns="0" rtlCol="0" anchor="ctr"/>
          <a:lstStyle/>
          <a:p>
            <a:pPr indent="0" marL="0">
              <a:buNone/>
            </a:pPr>
            <a:r>
              <a:rPr lang="en-US" sz="1900" b="1" dirty="0">
                <a:solidFill>
                  <a:srgbClr val="16203A"/>
                </a:solidFill>
                <a:latin typeface="Cambria" pitchFamily="34" charset="0"/>
                <a:ea typeface="Cambria" pitchFamily="34" charset="-122"/>
                <a:cs typeface="Cambria" pitchFamily="34" charset="-120"/>
              </a:rPr>
              <a:t>A safety rule in a prompt is a request</a:t>
            </a:r>
            <a:endParaRPr lang="en-US" sz="1900" dirty="0"/>
          </a:p>
        </p:txBody>
      </p:sp>
      <p:sp>
        <p:nvSpPr>
          <p:cNvPr id="15" name="Text 13"/>
          <p:cNvSpPr/>
          <p:nvPr/>
        </p:nvSpPr>
        <p:spPr>
          <a:xfrm>
            <a:off x="1188720" y="4910328"/>
            <a:ext cx="10241280" cy="777240"/>
          </a:xfrm>
          <a:prstGeom prst="rect">
            <a:avLst/>
          </a:prstGeom>
          <a:noFill/>
          <a:ln/>
        </p:spPr>
        <p:txBody>
          <a:bodyPr wrap="square" lIns="0" tIns="0" rIns="0" bIns="0" rtlCol="0" anchor="ctr"/>
          <a:lstStyle/>
          <a:p>
            <a:pPr indent="0" marL="0">
              <a:lnSpc>
                <a:spcPts val="2000"/>
              </a:lnSpc>
              <a:buNone/>
            </a:pPr>
            <a:r>
              <a:rPr lang="en-US" sz="1350" dirty="0">
                <a:solidFill>
                  <a:srgbClr val="4A5462"/>
                </a:solidFill>
                <a:latin typeface="Calibri" pitchFamily="34" charset="0"/>
                <a:ea typeface="Calibri" pitchFamily="34" charset="-122"/>
                <a:cs typeface="Calibri" pitchFamily="34" charset="-120"/>
              </a:rPr>
              <a:t>Told not to invent contact details, the model complied most of the time, which is the worst possible reliability profile, because it looks fine in testing.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94360" y="457200"/>
            <a:ext cx="5486400" cy="228600"/>
          </a:xfrm>
          <a:prstGeom prst="rect">
            <a:avLst/>
          </a:prstGeom>
          <a:noFill/>
          <a:ln/>
        </p:spPr>
        <p:txBody>
          <a:bodyPr wrap="square" lIns="0" tIns="0" rIns="0" bIns="0" rtlCol="0" anchor="ctr"/>
          <a:lstStyle/>
          <a:p>
            <a:pPr indent="0" marL="0">
              <a:buNone/>
            </a:pPr>
            <a:r>
              <a:rPr lang="en-US" sz="1050" b="1" spc="200" kern="0" dirty="0">
                <a:solidFill>
                  <a:srgbClr val="8A929E"/>
                </a:solidFill>
                <a:latin typeface="Calibri" pitchFamily="34" charset="0"/>
                <a:ea typeface="Calibri" pitchFamily="34" charset="-122"/>
                <a:cs typeface="Calibri" pitchFamily="34" charset="-120"/>
              </a:rPr>
              <a:t>BEFORE BUILDING ANYTHING</a:t>
            </a:r>
            <a:endParaRPr lang="en-US" sz="1050" dirty="0"/>
          </a:p>
        </p:txBody>
      </p:sp>
      <p:sp>
        <p:nvSpPr>
          <p:cNvPr id="3" name="Text 1"/>
          <p:cNvSpPr/>
          <p:nvPr/>
        </p:nvSpPr>
        <p:spPr>
          <a:xfrm>
            <a:off x="594360" y="777240"/>
            <a:ext cx="10607040" cy="822960"/>
          </a:xfrm>
          <a:prstGeom prst="rect">
            <a:avLst/>
          </a:prstGeom>
          <a:noFill/>
          <a:ln/>
        </p:spPr>
        <p:txBody>
          <a:bodyPr wrap="square" lIns="0" tIns="0" rIns="0" bIns="0" rtlCol="0" anchor="ctr"/>
          <a:lstStyle/>
          <a:p>
            <a:pPr indent="0" marL="0">
              <a:buNone/>
            </a:pPr>
            <a:r>
              <a:rPr lang="en-US" sz="3400" b="1" dirty="0">
                <a:solidFill>
                  <a:srgbClr val="16203A"/>
                </a:solidFill>
                <a:latin typeface="Cambria" pitchFamily="34" charset="0"/>
                <a:ea typeface="Cambria" pitchFamily="34" charset="-122"/>
                <a:cs typeface="Cambria" pitchFamily="34" charset="-120"/>
              </a:rPr>
              <a:t>I checked the sources. Most were unusable.</a:t>
            </a:r>
            <a:endParaRPr lang="en-US" sz="3400" dirty="0"/>
          </a:p>
        </p:txBody>
      </p:sp>
      <p:sp>
        <p:nvSpPr>
          <p:cNvPr id="4" name="Shape 2"/>
          <p:cNvSpPr/>
          <p:nvPr/>
        </p:nvSpPr>
        <p:spPr>
          <a:xfrm>
            <a:off x="594360" y="1783080"/>
            <a:ext cx="5349240" cy="1737360"/>
          </a:xfrm>
          <a:prstGeom prst="rect">
            <a:avLst/>
          </a:prstGeom>
          <a:solidFill>
            <a:srgbClr val="FFFFFF"/>
          </a:solidFill>
          <a:ln w="12700">
            <a:solidFill>
              <a:srgbClr val="D8DCE3"/>
            </a:solidFill>
            <a:prstDash val="solid"/>
          </a:ln>
        </p:spPr>
      </p:sp>
      <p:sp>
        <p:nvSpPr>
          <p:cNvPr id="5" name="Text 3"/>
          <p:cNvSpPr/>
          <p:nvPr/>
        </p:nvSpPr>
        <p:spPr>
          <a:xfrm>
            <a:off x="868680" y="1984248"/>
            <a:ext cx="4800600" cy="502920"/>
          </a:xfrm>
          <a:prstGeom prst="rect">
            <a:avLst/>
          </a:prstGeom>
          <a:noFill/>
          <a:ln/>
        </p:spPr>
        <p:txBody>
          <a:bodyPr wrap="square" lIns="0" tIns="0" rIns="0" bIns="0" rtlCol="0" anchor="ctr"/>
          <a:lstStyle/>
          <a:p>
            <a:pPr indent="0" marL="0">
              <a:buNone/>
            </a:pPr>
            <a:r>
              <a:rPr lang="en-US" sz="1700" b="1" dirty="0">
                <a:solidFill>
                  <a:srgbClr val="A81E14"/>
                </a:solidFill>
                <a:latin typeface="Cambria" pitchFamily="34" charset="0"/>
                <a:ea typeface="Cambria" pitchFamily="34" charset="-122"/>
                <a:cs typeface="Cambria" pitchFamily="34" charset="-120"/>
              </a:rPr>
              <a:t>2 of 5 sources were dead law</a:t>
            </a:r>
            <a:endParaRPr lang="en-US" sz="1700" dirty="0"/>
          </a:p>
        </p:txBody>
      </p:sp>
      <p:sp>
        <p:nvSpPr>
          <p:cNvPr id="6" name="Text 4"/>
          <p:cNvSpPr/>
          <p:nvPr/>
        </p:nvSpPr>
        <p:spPr>
          <a:xfrm>
            <a:off x="868680" y="2468880"/>
            <a:ext cx="4800600" cy="914400"/>
          </a:xfrm>
          <a:prstGeom prst="rect">
            <a:avLst/>
          </a:prstGeom>
          <a:noFill/>
          <a:ln/>
        </p:spPr>
        <p:txBody>
          <a:bodyPr wrap="square" lIns="0" tIns="0" rIns="0" bIns="0" rtlCol="0" anchor="ctr"/>
          <a:lstStyle/>
          <a:p>
            <a:pPr indent="0" marL="0">
              <a:lnSpc>
                <a:spcPts val="1800"/>
              </a:lnSpc>
              <a:buNone/>
            </a:pPr>
            <a:r>
              <a:rPr lang="en-US" sz="1250" dirty="0">
                <a:solidFill>
                  <a:srgbClr val="4A5462"/>
                </a:solidFill>
                <a:latin typeface="Calibri" pitchFamily="34" charset="0"/>
                <a:ea typeface="Calibri" pitchFamily="34" charset="-122"/>
                <a:cs typeface="Calibri" pitchFamily="34" charset="-120"/>
              </a:rPr>
              <a:t>The Factories Act 1948 and the Employees' Compensation Act 1923 were both repealed on 21 Nov 2025 and replaced by the new labour codes.</a:t>
            </a:r>
            <a:endParaRPr lang="en-US" sz="1250" dirty="0"/>
          </a:p>
        </p:txBody>
      </p:sp>
      <p:sp>
        <p:nvSpPr>
          <p:cNvPr id="7" name="Shape 5"/>
          <p:cNvSpPr/>
          <p:nvPr/>
        </p:nvSpPr>
        <p:spPr>
          <a:xfrm>
            <a:off x="6217920" y="1783080"/>
            <a:ext cx="5349240" cy="1737360"/>
          </a:xfrm>
          <a:prstGeom prst="rect">
            <a:avLst/>
          </a:prstGeom>
          <a:solidFill>
            <a:srgbClr val="FFFFFF"/>
          </a:solidFill>
          <a:ln w="12700">
            <a:solidFill>
              <a:srgbClr val="D8DCE3"/>
            </a:solidFill>
            <a:prstDash val="solid"/>
          </a:ln>
        </p:spPr>
      </p:sp>
      <p:sp>
        <p:nvSpPr>
          <p:cNvPr id="8" name="Text 6"/>
          <p:cNvSpPr/>
          <p:nvPr/>
        </p:nvSpPr>
        <p:spPr>
          <a:xfrm>
            <a:off x="6492240" y="1984248"/>
            <a:ext cx="4800600" cy="502920"/>
          </a:xfrm>
          <a:prstGeom prst="rect">
            <a:avLst/>
          </a:prstGeom>
          <a:noFill/>
          <a:ln/>
        </p:spPr>
        <p:txBody>
          <a:bodyPr wrap="square" lIns="0" tIns="0" rIns="0" bIns="0" rtlCol="0" anchor="ctr"/>
          <a:lstStyle/>
          <a:p>
            <a:pPr indent="0" marL="0">
              <a:buNone/>
            </a:pPr>
            <a:r>
              <a:rPr lang="en-US" sz="1700" b="1" dirty="0">
                <a:solidFill>
                  <a:srgbClr val="A81E14"/>
                </a:solidFill>
                <a:latin typeface="Cambria" pitchFamily="34" charset="0"/>
                <a:ea typeface="Cambria" pitchFamily="34" charset="-122"/>
                <a:cs typeface="Cambria" pitchFamily="34" charset="-120"/>
              </a:rPr>
              <a:t>One file was not the Act at all</a:t>
            </a:r>
            <a:endParaRPr lang="en-US" sz="1700" dirty="0"/>
          </a:p>
        </p:txBody>
      </p:sp>
      <p:sp>
        <p:nvSpPr>
          <p:cNvPr id="9" name="Text 7"/>
          <p:cNvSpPr/>
          <p:nvPr/>
        </p:nvSpPr>
        <p:spPr>
          <a:xfrm>
            <a:off x="6492240" y="2468880"/>
            <a:ext cx="4800600" cy="914400"/>
          </a:xfrm>
          <a:prstGeom prst="rect">
            <a:avLst/>
          </a:prstGeom>
          <a:noFill/>
          <a:ln/>
        </p:spPr>
        <p:txBody>
          <a:bodyPr wrap="square" lIns="0" tIns="0" rIns="0" bIns="0" rtlCol="0" anchor="ctr"/>
          <a:lstStyle/>
          <a:p>
            <a:pPr indent="0" marL="0">
              <a:lnSpc>
                <a:spcPts val="1800"/>
              </a:lnSpc>
              <a:buNone/>
            </a:pPr>
            <a:r>
              <a:rPr lang="en-US" sz="1250" dirty="0">
                <a:solidFill>
                  <a:srgbClr val="4A5462"/>
                </a:solidFill>
                <a:latin typeface="Calibri" pitchFamily="34" charset="0"/>
                <a:ea typeface="Calibri" pitchFamily="34" charset="-122"/>
                <a:cs typeface="Calibri" pitchFamily="34" charset="-120"/>
              </a:rPr>
              <a:t>It was a two-page FAQ with obsolete figures that omitted factory workers from its coverage list. A bot using it could have told a factory widow she was not covered.</a:t>
            </a:r>
            <a:endParaRPr lang="en-US" sz="1250" dirty="0"/>
          </a:p>
        </p:txBody>
      </p:sp>
      <p:sp>
        <p:nvSpPr>
          <p:cNvPr id="10" name="Shape 8"/>
          <p:cNvSpPr/>
          <p:nvPr/>
        </p:nvSpPr>
        <p:spPr>
          <a:xfrm>
            <a:off x="594360" y="3749040"/>
            <a:ext cx="5349240" cy="1737360"/>
          </a:xfrm>
          <a:prstGeom prst="rect">
            <a:avLst/>
          </a:prstGeom>
          <a:solidFill>
            <a:srgbClr val="FFFFFF"/>
          </a:solidFill>
          <a:ln w="12700">
            <a:solidFill>
              <a:srgbClr val="D8DCE3"/>
            </a:solidFill>
            <a:prstDash val="solid"/>
          </a:ln>
        </p:spPr>
      </p:sp>
      <p:sp>
        <p:nvSpPr>
          <p:cNvPr id="11" name="Text 9"/>
          <p:cNvSpPr/>
          <p:nvPr/>
        </p:nvSpPr>
        <p:spPr>
          <a:xfrm>
            <a:off x="868680" y="3950208"/>
            <a:ext cx="4800600" cy="502920"/>
          </a:xfrm>
          <a:prstGeom prst="rect">
            <a:avLst/>
          </a:prstGeom>
          <a:noFill/>
          <a:ln/>
        </p:spPr>
        <p:txBody>
          <a:bodyPr wrap="square" lIns="0" tIns="0" rIns="0" bIns="0" rtlCol="0" anchor="ctr"/>
          <a:lstStyle/>
          <a:p>
            <a:pPr indent="0" marL="0">
              <a:buNone/>
            </a:pPr>
            <a:r>
              <a:rPr lang="en-US" sz="1700" b="1" dirty="0">
                <a:solidFill>
                  <a:srgbClr val="A81E14"/>
                </a:solidFill>
                <a:latin typeface="Cambria" pitchFamily="34" charset="0"/>
                <a:ea typeface="Cambria" pitchFamily="34" charset="-122"/>
                <a:cs typeface="Cambria" pitchFamily="34" charset="-120"/>
              </a:rPr>
              <a:t>The FIR source was a blog post</a:t>
            </a:r>
            <a:endParaRPr lang="en-US" sz="1700" dirty="0"/>
          </a:p>
        </p:txBody>
      </p:sp>
      <p:sp>
        <p:nvSpPr>
          <p:cNvPr id="12" name="Text 10"/>
          <p:cNvSpPr/>
          <p:nvPr/>
        </p:nvSpPr>
        <p:spPr>
          <a:xfrm>
            <a:off x="868680" y="4434840"/>
            <a:ext cx="4800600" cy="914400"/>
          </a:xfrm>
          <a:prstGeom prst="rect">
            <a:avLst/>
          </a:prstGeom>
          <a:noFill/>
          <a:ln/>
        </p:spPr>
        <p:txBody>
          <a:bodyPr wrap="square" lIns="0" tIns="0" rIns="0" bIns="0" rtlCol="0" anchor="ctr"/>
          <a:lstStyle/>
          <a:p>
            <a:pPr indent="0" marL="0">
              <a:lnSpc>
                <a:spcPts val="1800"/>
              </a:lnSpc>
              <a:buNone/>
            </a:pPr>
            <a:r>
              <a:rPr lang="en-US" sz="1250" dirty="0">
                <a:solidFill>
                  <a:srgbClr val="4A5462"/>
                </a:solidFill>
                <a:latin typeface="Calibri" pitchFamily="34" charset="0"/>
                <a:ea typeface="Calibri" pitchFamily="34" charset="-122"/>
                <a:cs typeface="Calibri" pitchFamily="34" charset="-120"/>
              </a:rPr>
              <a:t>It cited five repealed CrPC and IPC sections, including the exact police-escalation step the product promises.</a:t>
            </a:r>
            <a:endParaRPr lang="en-US" sz="1250" dirty="0"/>
          </a:p>
        </p:txBody>
      </p:sp>
      <p:sp>
        <p:nvSpPr>
          <p:cNvPr id="13" name="Shape 11"/>
          <p:cNvSpPr/>
          <p:nvPr/>
        </p:nvSpPr>
        <p:spPr>
          <a:xfrm>
            <a:off x="6217920" y="3749040"/>
            <a:ext cx="5349240" cy="1737360"/>
          </a:xfrm>
          <a:prstGeom prst="rect">
            <a:avLst/>
          </a:prstGeom>
          <a:solidFill>
            <a:srgbClr val="FFFFFF"/>
          </a:solidFill>
          <a:ln w="12700">
            <a:solidFill>
              <a:srgbClr val="D8DCE3"/>
            </a:solidFill>
            <a:prstDash val="solid"/>
          </a:ln>
        </p:spPr>
      </p:sp>
      <p:sp>
        <p:nvSpPr>
          <p:cNvPr id="14" name="Text 12"/>
          <p:cNvSpPr/>
          <p:nvPr/>
        </p:nvSpPr>
        <p:spPr>
          <a:xfrm>
            <a:off x="6492240" y="3950208"/>
            <a:ext cx="4800600" cy="502920"/>
          </a:xfrm>
          <a:prstGeom prst="rect">
            <a:avLst/>
          </a:prstGeom>
          <a:noFill/>
          <a:ln/>
        </p:spPr>
        <p:txBody>
          <a:bodyPr wrap="square" lIns="0" tIns="0" rIns="0" bIns="0" rtlCol="0" anchor="ctr"/>
          <a:lstStyle/>
          <a:p>
            <a:pPr indent="0" marL="0">
              <a:buNone/>
            </a:pPr>
            <a:r>
              <a:rPr lang="en-US" sz="1700" b="1" dirty="0">
                <a:solidFill>
                  <a:srgbClr val="A81E14"/>
                </a:solidFill>
                <a:latin typeface="Cambria" pitchFamily="34" charset="0"/>
                <a:ea typeface="Cambria" pitchFamily="34" charset="-122"/>
                <a:cs typeface="Cambria" pitchFamily="34" charset="-120"/>
              </a:rPr>
              <a:t>The most urgent provision was missing</a:t>
            </a:r>
            <a:endParaRPr lang="en-US" sz="1700" dirty="0"/>
          </a:p>
        </p:txBody>
      </p:sp>
      <p:sp>
        <p:nvSpPr>
          <p:cNvPr id="15" name="Text 13"/>
          <p:cNvSpPr/>
          <p:nvPr/>
        </p:nvSpPr>
        <p:spPr>
          <a:xfrm>
            <a:off x="6492240" y="4434840"/>
            <a:ext cx="4800600" cy="914400"/>
          </a:xfrm>
          <a:prstGeom prst="rect">
            <a:avLst/>
          </a:prstGeom>
          <a:noFill/>
          <a:ln/>
        </p:spPr>
        <p:txBody>
          <a:bodyPr wrap="square" lIns="0" tIns="0" rIns="0" bIns="0" rtlCol="0" anchor="ctr"/>
          <a:lstStyle/>
          <a:p>
            <a:pPr indent="0" marL="0">
              <a:lnSpc>
                <a:spcPts val="1800"/>
              </a:lnSpc>
              <a:buNone/>
            </a:pPr>
            <a:r>
              <a:rPr lang="en-US" sz="1250" dirty="0">
                <a:solidFill>
                  <a:srgbClr val="4A5462"/>
                </a:solidFill>
                <a:latin typeface="Calibri" pitchFamily="34" charset="0"/>
                <a:ea typeface="Calibri" pitchFamily="34" charset="-122"/>
                <a:cs typeface="Calibri" pitchFamily="34" charset="-120"/>
              </a:rPr>
              <a:t>s.194 BNSS, which governs the inquest and post-mortem after a factory death, appeared nowhere in the collected material.</a:t>
            </a:r>
            <a:endParaRPr lang="en-US" sz="1250" dirty="0"/>
          </a:p>
        </p:txBody>
      </p:sp>
      <p:sp>
        <p:nvSpPr>
          <p:cNvPr id="16" name="Text 14"/>
          <p:cNvSpPr/>
          <p:nvPr/>
        </p:nvSpPr>
        <p:spPr>
          <a:xfrm>
            <a:off x="594360" y="5806440"/>
            <a:ext cx="10607040" cy="365760"/>
          </a:xfrm>
          <a:prstGeom prst="rect">
            <a:avLst/>
          </a:prstGeom>
          <a:noFill/>
          <a:ln/>
        </p:spPr>
        <p:txBody>
          <a:bodyPr wrap="square" lIns="0" tIns="0" rIns="0" bIns="0" rtlCol="0" anchor="ctr"/>
          <a:lstStyle/>
          <a:p>
            <a:pPr indent="0" marL="0">
              <a:buNone/>
            </a:pPr>
            <a:r>
              <a:rPr lang="en-US" sz="1500" i="1" dirty="0">
                <a:solidFill>
                  <a:srgbClr val="16203A"/>
                </a:solidFill>
                <a:latin typeface="Cambria" pitchFamily="34" charset="0"/>
                <a:ea typeface="Cambria" pitchFamily="34" charset="-122"/>
                <a:cs typeface="Cambria" pitchFamily="34" charset="-120"/>
              </a:rPr>
              <a:t>Had I skipped this step, the bot would have cited repealed statutes to grieving families, fluently.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94360" y="457200"/>
            <a:ext cx="5486400" cy="228600"/>
          </a:xfrm>
          <a:prstGeom prst="rect">
            <a:avLst/>
          </a:prstGeom>
          <a:noFill/>
          <a:ln/>
        </p:spPr>
        <p:txBody>
          <a:bodyPr wrap="square" lIns="0" tIns="0" rIns="0" bIns="0" rtlCol="0" anchor="ctr"/>
          <a:lstStyle/>
          <a:p>
            <a:pPr indent="0" marL="0">
              <a:buNone/>
            </a:pPr>
            <a:r>
              <a:rPr lang="en-US" sz="1050" b="1" spc="200" kern="0" dirty="0">
                <a:solidFill>
                  <a:srgbClr val="8A929E"/>
                </a:solidFill>
                <a:latin typeface="Calibri" pitchFamily="34" charset="0"/>
                <a:ea typeface="Calibri" pitchFamily="34" charset="-122"/>
                <a:cs typeface="Calibri" pitchFamily="34" charset="-120"/>
              </a:rPr>
              <a:t>ARCHITECTURE</a:t>
            </a:r>
            <a:endParaRPr lang="en-US" sz="1050" dirty="0"/>
          </a:p>
        </p:txBody>
      </p:sp>
      <p:sp>
        <p:nvSpPr>
          <p:cNvPr id="3" name="Text 1"/>
          <p:cNvSpPr/>
          <p:nvPr/>
        </p:nvSpPr>
        <p:spPr>
          <a:xfrm>
            <a:off x="594360" y="777240"/>
            <a:ext cx="10607040" cy="822960"/>
          </a:xfrm>
          <a:prstGeom prst="rect">
            <a:avLst/>
          </a:prstGeom>
          <a:noFill/>
          <a:ln/>
        </p:spPr>
        <p:txBody>
          <a:bodyPr wrap="square" lIns="0" tIns="0" rIns="0" bIns="0" rtlCol="0" anchor="ctr"/>
          <a:lstStyle/>
          <a:p>
            <a:pPr indent="0" marL="0">
              <a:buNone/>
            </a:pPr>
            <a:r>
              <a:rPr lang="en-US" sz="3400" b="1" dirty="0">
                <a:solidFill>
                  <a:srgbClr val="16203A"/>
                </a:solidFill>
                <a:latin typeface="Cambria" pitchFamily="34" charset="0"/>
                <a:ea typeface="Cambria" pitchFamily="34" charset="-122"/>
                <a:cs typeface="Cambria" pitchFamily="34" charset="-120"/>
              </a:rPr>
              <a:t>Order of operations is the safety design</a:t>
            </a:r>
            <a:endParaRPr lang="en-US" sz="3400" dirty="0"/>
          </a:p>
        </p:txBody>
      </p:sp>
      <p:sp>
        <p:nvSpPr>
          <p:cNvPr id="4" name="Shape 2"/>
          <p:cNvSpPr/>
          <p:nvPr/>
        </p:nvSpPr>
        <p:spPr>
          <a:xfrm>
            <a:off x="594360" y="1920240"/>
            <a:ext cx="1709928" cy="1371600"/>
          </a:xfrm>
          <a:prstGeom prst="roundRect">
            <a:avLst>
              <a:gd name="adj" fmla="val 4000"/>
            </a:avLst>
          </a:prstGeom>
          <a:solidFill>
            <a:srgbClr val="FFFFFF"/>
          </a:solidFill>
          <a:ln w="12700">
            <a:solidFill>
              <a:srgbClr val="16203A"/>
            </a:solidFill>
            <a:prstDash val="solid"/>
          </a:ln>
        </p:spPr>
      </p:sp>
      <p:sp>
        <p:nvSpPr>
          <p:cNvPr id="5" name="Text 3"/>
          <p:cNvSpPr/>
          <p:nvPr/>
        </p:nvSpPr>
        <p:spPr>
          <a:xfrm>
            <a:off x="594360" y="2084832"/>
            <a:ext cx="1709928" cy="320040"/>
          </a:xfrm>
          <a:prstGeom prst="rect">
            <a:avLst/>
          </a:prstGeom>
          <a:noFill/>
          <a:ln/>
        </p:spPr>
        <p:txBody>
          <a:bodyPr wrap="square" lIns="0" tIns="0" rIns="0" bIns="0" rtlCol="0" anchor="ctr"/>
          <a:lstStyle/>
          <a:p>
            <a:pPr algn="ctr" indent="0" marL="0">
              <a:buNone/>
            </a:pPr>
            <a:r>
              <a:rPr lang="en-US" sz="1400" b="1" dirty="0">
                <a:solidFill>
                  <a:srgbClr val="16203A"/>
                </a:solidFill>
                <a:latin typeface="Cambria" pitchFamily="34" charset="0"/>
                <a:ea typeface="Cambria" pitchFamily="34" charset="-122"/>
                <a:cs typeface="Cambria" pitchFamily="34" charset="-120"/>
              </a:rPr>
              <a:t>Intent</a:t>
            </a:r>
            <a:endParaRPr lang="en-US" sz="1400" dirty="0"/>
          </a:p>
        </p:txBody>
      </p:sp>
      <p:sp>
        <p:nvSpPr>
          <p:cNvPr id="6" name="Text 4"/>
          <p:cNvSpPr/>
          <p:nvPr/>
        </p:nvSpPr>
        <p:spPr>
          <a:xfrm>
            <a:off x="594360" y="2450592"/>
            <a:ext cx="1709928" cy="731520"/>
          </a:xfrm>
          <a:prstGeom prst="rect">
            <a:avLst/>
          </a:prstGeom>
          <a:noFill/>
          <a:ln/>
        </p:spPr>
        <p:txBody>
          <a:bodyPr wrap="square" lIns="0" tIns="0" rIns="0" bIns="0" rtlCol="0" anchor="ctr"/>
          <a:lstStyle/>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Keyword, then</a:t>
            </a:r>
            <a:endParaRPr lang="en-US" sz="1050" dirty="0"/>
          </a:p>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classifier</a:t>
            </a:r>
            <a:endParaRPr lang="en-US" sz="1050" dirty="0"/>
          </a:p>
        </p:txBody>
      </p:sp>
      <p:sp>
        <p:nvSpPr>
          <p:cNvPr id="7" name="Text 5"/>
          <p:cNvSpPr/>
          <p:nvPr/>
        </p:nvSpPr>
        <p:spPr>
          <a:xfrm>
            <a:off x="2304288" y="2331720"/>
            <a:ext cx="118872" cy="457200"/>
          </a:xfrm>
          <a:prstGeom prst="rect">
            <a:avLst/>
          </a:prstGeom>
          <a:noFill/>
          <a:ln/>
        </p:spPr>
        <p:txBody>
          <a:bodyPr wrap="square" lIns="0" tIns="0" rIns="0" bIns="0" rtlCol="0" anchor="ctr"/>
          <a:lstStyle/>
          <a:p>
            <a:pPr algn="ctr" indent="0" marL="0">
              <a:buNone/>
            </a:pPr>
            <a:r>
              <a:rPr lang="en-US" sz="1800" b="1" dirty="0">
                <a:solidFill>
                  <a:srgbClr val="8A929E"/>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2423160" y="1920240"/>
            <a:ext cx="1709928" cy="1371600"/>
          </a:xfrm>
          <a:prstGeom prst="roundRect">
            <a:avLst>
              <a:gd name="adj" fmla="val 4000"/>
            </a:avLst>
          </a:prstGeom>
          <a:solidFill>
            <a:srgbClr val="FFFFFF"/>
          </a:solidFill>
          <a:ln w="12700">
            <a:solidFill>
              <a:srgbClr val="16203A"/>
            </a:solidFill>
            <a:prstDash val="solid"/>
          </a:ln>
        </p:spPr>
      </p:sp>
      <p:sp>
        <p:nvSpPr>
          <p:cNvPr id="9" name="Text 7"/>
          <p:cNvSpPr/>
          <p:nvPr/>
        </p:nvSpPr>
        <p:spPr>
          <a:xfrm>
            <a:off x="2423160" y="2084832"/>
            <a:ext cx="1709928" cy="320040"/>
          </a:xfrm>
          <a:prstGeom prst="rect">
            <a:avLst/>
          </a:prstGeom>
          <a:noFill/>
          <a:ln/>
        </p:spPr>
        <p:txBody>
          <a:bodyPr wrap="square" lIns="0" tIns="0" rIns="0" bIns="0" rtlCol="0" anchor="ctr"/>
          <a:lstStyle/>
          <a:p>
            <a:pPr algn="ctr" indent="0" marL="0">
              <a:buNone/>
            </a:pPr>
            <a:r>
              <a:rPr lang="en-US" sz="1400" b="1" dirty="0">
                <a:solidFill>
                  <a:srgbClr val="16203A"/>
                </a:solidFill>
                <a:latin typeface="Cambria" pitchFamily="34" charset="0"/>
                <a:ea typeface="Cambria" pitchFamily="34" charset="-122"/>
                <a:cs typeface="Cambria" pitchFamily="34" charset="-120"/>
              </a:rPr>
              <a:t>Retrieve</a:t>
            </a:r>
            <a:endParaRPr lang="en-US" sz="1400" dirty="0"/>
          </a:p>
        </p:txBody>
      </p:sp>
      <p:sp>
        <p:nvSpPr>
          <p:cNvPr id="10" name="Text 8"/>
          <p:cNvSpPr/>
          <p:nvPr/>
        </p:nvSpPr>
        <p:spPr>
          <a:xfrm>
            <a:off x="2423160" y="2450592"/>
            <a:ext cx="1709928" cy="731520"/>
          </a:xfrm>
          <a:prstGeom prst="rect">
            <a:avLst/>
          </a:prstGeom>
          <a:noFill/>
          <a:ln/>
        </p:spPr>
        <p:txBody>
          <a:bodyPr wrap="square" lIns="0" tIns="0" rIns="0" bIns="0" rtlCol="0" anchor="ctr"/>
          <a:lstStyle/>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Top-K from</a:t>
            </a:r>
            <a:endParaRPr lang="en-US" sz="1050" dirty="0"/>
          </a:p>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28 chunks</a:t>
            </a:r>
            <a:endParaRPr lang="en-US" sz="1050" dirty="0"/>
          </a:p>
        </p:txBody>
      </p:sp>
      <p:sp>
        <p:nvSpPr>
          <p:cNvPr id="11" name="Text 9"/>
          <p:cNvSpPr/>
          <p:nvPr/>
        </p:nvSpPr>
        <p:spPr>
          <a:xfrm>
            <a:off x="4133088" y="2331720"/>
            <a:ext cx="118872" cy="457200"/>
          </a:xfrm>
          <a:prstGeom prst="rect">
            <a:avLst/>
          </a:prstGeom>
          <a:noFill/>
          <a:ln/>
        </p:spPr>
        <p:txBody>
          <a:bodyPr wrap="square" lIns="0" tIns="0" rIns="0" bIns="0" rtlCol="0" anchor="ctr"/>
          <a:lstStyle/>
          <a:p>
            <a:pPr algn="ctr" indent="0" marL="0">
              <a:buNone/>
            </a:pPr>
            <a:r>
              <a:rPr lang="en-US" sz="1800" b="1" dirty="0">
                <a:solidFill>
                  <a:srgbClr val="8A929E"/>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4251960" y="1920240"/>
            <a:ext cx="1709928" cy="1371600"/>
          </a:xfrm>
          <a:prstGeom prst="roundRect">
            <a:avLst>
              <a:gd name="adj" fmla="val 4000"/>
            </a:avLst>
          </a:prstGeom>
          <a:solidFill>
            <a:srgbClr val="FFFFFF"/>
          </a:solidFill>
          <a:ln w="25400">
            <a:solidFill>
              <a:srgbClr val="A81E14"/>
            </a:solidFill>
            <a:prstDash val="solid"/>
          </a:ln>
        </p:spPr>
      </p:sp>
      <p:sp>
        <p:nvSpPr>
          <p:cNvPr id="13" name="Text 11"/>
          <p:cNvSpPr/>
          <p:nvPr/>
        </p:nvSpPr>
        <p:spPr>
          <a:xfrm>
            <a:off x="4251960" y="2084832"/>
            <a:ext cx="1709928" cy="320040"/>
          </a:xfrm>
          <a:prstGeom prst="rect">
            <a:avLst/>
          </a:prstGeom>
          <a:noFill/>
          <a:ln/>
        </p:spPr>
        <p:txBody>
          <a:bodyPr wrap="square" lIns="0" tIns="0" rIns="0" bIns="0" rtlCol="0" anchor="ctr"/>
          <a:lstStyle/>
          <a:p>
            <a:pPr algn="ctr" indent="0" marL="0">
              <a:buNone/>
            </a:pPr>
            <a:r>
              <a:rPr lang="en-US" sz="1400" b="1" dirty="0">
                <a:solidFill>
                  <a:srgbClr val="A81E14"/>
                </a:solidFill>
                <a:latin typeface="Cambria" pitchFamily="34" charset="0"/>
                <a:ea typeface="Cambria" pitchFamily="34" charset="-122"/>
                <a:cs typeface="Cambria" pitchFamily="34" charset="-120"/>
              </a:rPr>
              <a:t>Metadata gate</a:t>
            </a:r>
            <a:endParaRPr lang="en-US" sz="1400" dirty="0"/>
          </a:p>
        </p:txBody>
      </p:sp>
      <p:sp>
        <p:nvSpPr>
          <p:cNvPr id="14" name="Text 12"/>
          <p:cNvSpPr/>
          <p:nvPr/>
        </p:nvSpPr>
        <p:spPr>
          <a:xfrm>
            <a:off x="4251960" y="2450592"/>
            <a:ext cx="1709928" cy="731520"/>
          </a:xfrm>
          <a:prstGeom prst="rect">
            <a:avLst/>
          </a:prstGeom>
          <a:noFill/>
          <a:ln/>
        </p:spPr>
        <p:txBody>
          <a:bodyPr wrap="square" lIns="0" tIns="0" rIns="0" bIns="0" rtlCol="0" anchor="ctr"/>
          <a:lstStyle/>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Legal status</a:t>
            </a:r>
            <a:endParaRPr lang="en-US" sz="1050" dirty="0"/>
          </a:p>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before similarity</a:t>
            </a:r>
            <a:endParaRPr lang="en-US" sz="1050" dirty="0"/>
          </a:p>
        </p:txBody>
      </p:sp>
      <p:sp>
        <p:nvSpPr>
          <p:cNvPr id="15" name="Text 13"/>
          <p:cNvSpPr/>
          <p:nvPr/>
        </p:nvSpPr>
        <p:spPr>
          <a:xfrm>
            <a:off x="5961888" y="2331720"/>
            <a:ext cx="118872" cy="457200"/>
          </a:xfrm>
          <a:prstGeom prst="rect">
            <a:avLst/>
          </a:prstGeom>
          <a:noFill/>
          <a:ln/>
        </p:spPr>
        <p:txBody>
          <a:bodyPr wrap="square" lIns="0" tIns="0" rIns="0" bIns="0" rtlCol="0" anchor="ctr"/>
          <a:lstStyle/>
          <a:p>
            <a:pPr algn="ctr" indent="0" marL="0">
              <a:buNone/>
            </a:pPr>
            <a:r>
              <a:rPr lang="en-US" sz="1800" b="1" dirty="0">
                <a:solidFill>
                  <a:srgbClr val="8A929E"/>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6080760" y="1920240"/>
            <a:ext cx="1709928" cy="1371600"/>
          </a:xfrm>
          <a:prstGeom prst="roundRect">
            <a:avLst>
              <a:gd name="adj" fmla="val 4000"/>
            </a:avLst>
          </a:prstGeom>
          <a:solidFill>
            <a:srgbClr val="FFFFFF"/>
          </a:solidFill>
          <a:ln w="12700">
            <a:solidFill>
              <a:srgbClr val="16203A"/>
            </a:solidFill>
            <a:prstDash val="solid"/>
          </a:ln>
        </p:spPr>
      </p:sp>
      <p:sp>
        <p:nvSpPr>
          <p:cNvPr id="17" name="Text 15"/>
          <p:cNvSpPr/>
          <p:nvPr/>
        </p:nvSpPr>
        <p:spPr>
          <a:xfrm>
            <a:off x="6080760" y="2084832"/>
            <a:ext cx="1709928" cy="320040"/>
          </a:xfrm>
          <a:prstGeom prst="rect">
            <a:avLst/>
          </a:prstGeom>
          <a:noFill/>
          <a:ln/>
        </p:spPr>
        <p:txBody>
          <a:bodyPr wrap="square" lIns="0" tIns="0" rIns="0" bIns="0" rtlCol="0" anchor="ctr"/>
          <a:lstStyle/>
          <a:p>
            <a:pPr algn="ctr" indent="0" marL="0">
              <a:buNone/>
            </a:pPr>
            <a:r>
              <a:rPr lang="en-US" sz="1400" b="1" dirty="0">
                <a:solidFill>
                  <a:srgbClr val="16203A"/>
                </a:solidFill>
                <a:latin typeface="Cambria" pitchFamily="34" charset="0"/>
                <a:ea typeface="Cambria" pitchFamily="34" charset="-122"/>
                <a:cs typeface="Cambria" pitchFamily="34" charset="-120"/>
              </a:rPr>
              <a:t>Threshold</a:t>
            </a:r>
            <a:endParaRPr lang="en-US" sz="1400" dirty="0"/>
          </a:p>
        </p:txBody>
      </p:sp>
      <p:sp>
        <p:nvSpPr>
          <p:cNvPr id="18" name="Text 16"/>
          <p:cNvSpPr/>
          <p:nvPr/>
        </p:nvSpPr>
        <p:spPr>
          <a:xfrm>
            <a:off x="6080760" y="2450592"/>
            <a:ext cx="1709928" cy="731520"/>
          </a:xfrm>
          <a:prstGeom prst="rect">
            <a:avLst/>
          </a:prstGeom>
          <a:noFill/>
          <a:ln/>
        </p:spPr>
        <p:txBody>
          <a:bodyPr wrap="square" lIns="0" tIns="0" rIns="0" bIns="0" rtlCol="0" anchor="ctr"/>
          <a:lstStyle/>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A floor, not a</a:t>
            </a:r>
            <a:endParaRPr lang="en-US" sz="1050" dirty="0"/>
          </a:p>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relevance test</a:t>
            </a:r>
            <a:endParaRPr lang="en-US" sz="1050" dirty="0"/>
          </a:p>
        </p:txBody>
      </p:sp>
      <p:sp>
        <p:nvSpPr>
          <p:cNvPr id="19" name="Text 17"/>
          <p:cNvSpPr/>
          <p:nvPr/>
        </p:nvSpPr>
        <p:spPr>
          <a:xfrm>
            <a:off x="7790688" y="2331720"/>
            <a:ext cx="118872" cy="457200"/>
          </a:xfrm>
          <a:prstGeom prst="rect">
            <a:avLst/>
          </a:prstGeom>
          <a:noFill/>
          <a:ln/>
        </p:spPr>
        <p:txBody>
          <a:bodyPr wrap="square" lIns="0" tIns="0" rIns="0" bIns="0" rtlCol="0" anchor="ctr"/>
          <a:lstStyle/>
          <a:p>
            <a:pPr algn="ctr" indent="0" marL="0">
              <a:buNone/>
            </a:pPr>
            <a:r>
              <a:rPr lang="en-US" sz="1800" b="1" dirty="0">
                <a:solidFill>
                  <a:srgbClr val="8A929E"/>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7909560" y="1920240"/>
            <a:ext cx="1709928" cy="1371600"/>
          </a:xfrm>
          <a:prstGeom prst="roundRect">
            <a:avLst>
              <a:gd name="adj" fmla="val 4000"/>
            </a:avLst>
          </a:prstGeom>
          <a:solidFill>
            <a:srgbClr val="FFFFFF"/>
          </a:solidFill>
          <a:ln w="12700">
            <a:solidFill>
              <a:srgbClr val="16203A"/>
            </a:solidFill>
            <a:prstDash val="solid"/>
          </a:ln>
        </p:spPr>
      </p:sp>
      <p:sp>
        <p:nvSpPr>
          <p:cNvPr id="21" name="Text 19"/>
          <p:cNvSpPr/>
          <p:nvPr/>
        </p:nvSpPr>
        <p:spPr>
          <a:xfrm>
            <a:off x="7909560" y="2084832"/>
            <a:ext cx="1709928" cy="320040"/>
          </a:xfrm>
          <a:prstGeom prst="rect">
            <a:avLst/>
          </a:prstGeom>
          <a:noFill/>
          <a:ln/>
        </p:spPr>
        <p:txBody>
          <a:bodyPr wrap="square" lIns="0" tIns="0" rIns="0" bIns="0" rtlCol="0" anchor="ctr"/>
          <a:lstStyle/>
          <a:p>
            <a:pPr algn="ctr" indent="0" marL="0">
              <a:buNone/>
            </a:pPr>
            <a:r>
              <a:rPr lang="en-US" sz="1400" b="1" dirty="0">
                <a:solidFill>
                  <a:srgbClr val="16203A"/>
                </a:solidFill>
                <a:latin typeface="Cambria" pitchFamily="34" charset="0"/>
                <a:ea typeface="Cambria" pitchFamily="34" charset="-122"/>
                <a:cs typeface="Cambria" pitchFamily="34" charset="-120"/>
              </a:rPr>
              <a:t>Answer model</a:t>
            </a:r>
            <a:endParaRPr lang="en-US" sz="1400" dirty="0"/>
          </a:p>
        </p:txBody>
      </p:sp>
      <p:sp>
        <p:nvSpPr>
          <p:cNvPr id="22" name="Text 20"/>
          <p:cNvSpPr/>
          <p:nvPr/>
        </p:nvSpPr>
        <p:spPr>
          <a:xfrm>
            <a:off x="7909560" y="2450592"/>
            <a:ext cx="1709928" cy="731520"/>
          </a:xfrm>
          <a:prstGeom prst="rect">
            <a:avLst/>
          </a:prstGeom>
          <a:noFill/>
          <a:ln/>
        </p:spPr>
        <p:txBody>
          <a:bodyPr wrap="square" lIns="0" tIns="0" rIns="0" bIns="0" rtlCol="0" anchor="ctr"/>
          <a:lstStyle/>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Only verified law</a:t>
            </a:r>
            <a:endParaRPr lang="en-US" sz="1050" dirty="0"/>
          </a:p>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in context</a:t>
            </a:r>
            <a:endParaRPr lang="en-US" sz="1050" dirty="0"/>
          </a:p>
        </p:txBody>
      </p:sp>
      <p:sp>
        <p:nvSpPr>
          <p:cNvPr id="23" name="Text 21"/>
          <p:cNvSpPr/>
          <p:nvPr/>
        </p:nvSpPr>
        <p:spPr>
          <a:xfrm>
            <a:off x="9619488" y="2331720"/>
            <a:ext cx="118872" cy="457200"/>
          </a:xfrm>
          <a:prstGeom prst="rect">
            <a:avLst/>
          </a:prstGeom>
          <a:noFill/>
          <a:ln/>
        </p:spPr>
        <p:txBody>
          <a:bodyPr wrap="square" lIns="0" tIns="0" rIns="0" bIns="0" rtlCol="0" anchor="ctr"/>
          <a:lstStyle/>
          <a:p>
            <a:pPr algn="ctr" indent="0" marL="0">
              <a:buNone/>
            </a:pPr>
            <a:r>
              <a:rPr lang="en-US" sz="1800" b="1" dirty="0">
                <a:solidFill>
                  <a:srgbClr val="8A929E"/>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9738360" y="1920240"/>
            <a:ext cx="1709928" cy="1371600"/>
          </a:xfrm>
          <a:prstGeom prst="roundRect">
            <a:avLst>
              <a:gd name="adj" fmla="val 4000"/>
            </a:avLst>
          </a:prstGeom>
          <a:solidFill>
            <a:srgbClr val="FFFFFF"/>
          </a:solidFill>
          <a:ln w="25400">
            <a:solidFill>
              <a:srgbClr val="1A6349"/>
            </a:solidFill>
            <a:prstDash val="solid"/>
          </a:ln>
        </p:spPr>
      </p:sp>
      <p:sp>
        <p:nvSpPr>
          <p:cNvPr id="25" name="Text 23"/>
          <p:cNvSpPr/>
          <p:nvPr/>
        </p:nvSpPr>
        <p:spPr>
          <a:xfrm>
            <a:off x="9738360" y="2084832"/>
            <a:ext cx="1709928" cy="320040"/>
          </a:xfrm>
          <a:prstGeom prst="rect">
            <a:avLst/>
          </a:prstGeom>
          <a:noFill/>
          <a:ln/>
        </p:spPr>
        <p:txBody>
          <a:bodyPr wrap="square" lIns="0" tIns="0" rIns="0" bIns="0" rtlCol="0" anchor="ctr"/>
          <a:lstStyle/>
          <a:p>
            <a:pPr algn="ctr" indent="0" marL="0">
              <a:buNone/>
            </a:pPr>
            <a:r>
              <a:rPr lang="en-US" sz="1400" b="1" dirty="0">
                <a:solidFill>
                  <a:srgbClr val="1A6349"/>
                </a:solidFill>
                <a:latin typeface="Cambria" pitchFamily="34" charset="0"/>
                <a:ea typeface="Cambria" pitchFamily="34" charset="-122"/>
                <a:cs typeface="Cambria" pitchFamily="34" charset="-120"/>
              </a:rPr>
              <a:t>Validator</a:t>
            </a:r>
            <a:endParaRPr lang="en-US" sz="1400" dirty="0"/>
          </a:p>
        </p:txBody>
      </p:sp>
      <p:sp>
        <p:nvSpPr>
          <p:cNvPr id="26" name="Text 24"/>
          <p:cNvSpPr/>
          <p:nvPr/>
        </p:nvSpPr>
        <p:spPr>
          <a:xfrm>
            <a:off x="9738360" y="2450592"/>
            <a:ext cx="1709928" cy="731520"/>
          </a:xfrm>
          <a:prstGeom prst="rect">
            <a:avLst/>
          </a:prstGeom>
          <a:noFill/>
          <a:ln/>
        </p:spPr>
        <p:txBody>
          <a:bodyPr wrap="square" lIns="0" tIns="0" rIns="0" bIns="0" rtlCol="0" anchor="ctr"/>
          <a:lstStyle/>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Checked before</a:t>
            </a:r>
            <a:endParaRPr lang="en-US" sz="1050" dirty="0"/>
          </a:p>
          <a:p>
            <a:pPr algn="ctr" indent="0" marL="0">
              <a:lnSpc>
                <a:spcPts val="1400"/>
              </a:lnSpc>
              <a:buNone/>
            </a:pPr>
            <a:r>
              <a:rPr lang="en-US" sz="1050" dirty="0">
                <a:solidFill>
                  <a:srgbClr val="4A5462"/>
                </a:solidFill>
                <a:latin typeface="Calibri" pitchFamily="34" charset="0"/>
                <a:ea typeface="Calibri" pitchFamily="34" charset="-122"/>
                <a:cs typeface="Calibri" pitchFamily="34" charset="-120"/>
              </a:rPr>
              <a:t>it is sent</a:t>
            </a:r>
            <a:endParaRPr lang="en-US" sz="1050" dirty="0"/>
          </a:p>
        </p:txBody>
      </p:sp>
      <p:sp>
        <p:nvSpPr>
          <p:cNvPr id="27" name="Text 25"/>
          <p:cNvSpPr/>
          <p:nvPr/>
        </p:nvSpPr>
        <p:spPr>
          <a:xfrm>
            <a:off x="594360" y="3794760"/>
            <a:ext cx="10607040" cy="292608"/>
          </a:xfrm>
          <a:prstGeom prst="rect">
            <a:avLst/>
          </a:prstGeom>
          <a:noFill/>
          <a:ln/>
        </p:spPr>
        <p:txBody>
          <a:bodyPr wrap="square" lIns="0" tIns="0" rIns="0" bIns="0" rtlCol="0" anchor="ctr"/>
          <a:lstStyle/>
          <a:p>
            <a:pPr indent="0" marL="0">
              <a:buNone/>
            </a:pPr>
            <a:r>
              <a:rPr lang="en-US" sz="1400" b="1" dirty="0">
                <a:solidFill>
                  <a:srgbClr val="16203A"/>
                </a:solidFill>
                <a:latin typeface="Cambria" pitchFamily="34" charset="0"/>
                <a:ea typeface="Cambria" pitchFamily="34" charset="-122"/>
                <a:cs typeface="Cambria" pitchFamily="34" charset="-120"/>
              </a:rPr>
              <a:t>Settlement pressure never reaches retrieval</a:t>
            </a:r>
            <a:endParaRPr lang="en-US" sz="1400" dirty="0"/>
          </a:p>
        </p:txBody>
      </p:sp>
      <p:sp>
        <p:nvSpPr>
          <p:cNvPr id="28" name="Text 26"/>
          <p:cNvSpPr/>
          <p:nvPr/>
        </p:nvSpPr>
        <p:spPr>
          <a:xfrm>
            <a:off x="594360" y="4087368"/>
            <a:ext cx="10607040" cy="457200"/>
          </a:xfrm>
          <a:prstGeom prst="rect">
            <a:avLst/>
          </a:prstGeom>
          <a:noFill/>
          <a:ln/>
        </p:spPr>
        <p:txBody>
          <a:bodyPr wrap="square" lIns="0" tIns="0" rIns="0" bIns="0" rtlCol="0" anchor="ctr"/>
          <a:lstStyle/>
          <a:p>
            <a:pPr indent="0" marL="0">
              <a:buNone/>
            </a:pPr>
            <a:r>
              <a:rPr lang="en-US" sz="1250" dirty="0">
                <a:solidFill>
                  <a:srgbClr val="4A5462"/>
                </a:solidFill>
                <a:latin typeface="Calibri" pitchFamily="34" charset="0"/>
                <a:ea typeface="Calibri" pitchFamily="34" charset="-122"/>
                <a:cs typeface="Calibri" pitchFamily="34" charset="-120"/>
              </a:rPr>
              <a:t>A signature cannot be un-signed, so that intent is caught by an offline keyword check and answered with pre-approved text. No model is called.</a:t>
            </a:r>
            <a:endParaRPr lang="en-US" sz="1250" dirty="0"/>
          </a:p>
        </p:txBody>
      </p:sp>
      <p:sp>
        <p:nvSpPr>
          <p:cNvPr id="29" name="Text 27"/>
          <p:cNvSpPr/>
          <p:nvPr/>
        </p:nvSpPr>
        <p:spPr>
          <a:xfrm>
            <a:off x="594360" y="4636008"/>
            <a:ext cx="10607040" cy="292608"/>
          </a:xfrm>
          <a:prstGeom prst="rect">
            <a:avLst/>
          </a:prstGeom>
          <a:noFill/>
          <a:ln/>
        </p:spPr>
        <p:txBody>
          <a:bodyPr wrap="square" lIns="0" tIns="0" rIns="0" bIns="0" rtlCol="0" anchor="ctr"/>
          <a:lstStyle/>
          <a:p>
            <a:pPr indent="0" marL="0">
              <a:buNone/>
            </a:pPr>
            <a:r>
              <a:rPr lang="en-US" sz="1400" b="1" dirty="0">
                <a:solidFill>
                  <a:srgbClr val="16203A"/>
                </a:solidFill>
                <a:latin typeface="Cambria" pitchFamily="34" charset="0"/>
                <a:ea typeface="Cambria" pitchFamily="34" charset="-122"/>
                <a:cs typeface="Cambria" pitchFamily="34" charset="-120"/>
              </a:rPr>
              <a:t>Repealed law is dropped before similarity is considered</a:t>
            </a:r>
            <a:endParaRPr lang="en-US" sz="1400" dirty="0"/>
          </a:p>
        </p:txBody>
      </p:sp>
      <p:sp>
        <p:nvSpPr>
          <p:cNvPr id="30" name="Text 28"/>
          <p:cNvSpPr/>
          <p:nvPr/>
        </p:nvSpPr>
        <p:spPr>
          <a:xfrm>
            <a:off x="594360" y="4928616"/>
            <a:ext cx="10607040" cy="457200"/>
          </a:xfrm>
          <a:prstGeom prst="rect">
            <a:avLst/>
          </a:prstGeom>
          <a:noFill/>
          <a:ln/>
        </p:spPr>
        <p:txBody>
          <a:bodyPr wrap="square" lIns="0" tIns="0" rIns="0" bIns="0" rtlCol="0" anchor="ctr"/>
          <a:lstStyle/>
          <a:p>
            <a:pPr indent="0" marL="0">
              <a:buNone/>
            </a:pPr>
            <a:r>
              <a:rPr lang="en-US" sz="1250" dirty="0">
                <a:solidFill>
                  <a:srgbClr val="4A5462"/>
                </a:solidFill>
                <a:latin typeface="Calibri" pitchFamily="34" charset="0"/>
                <a:ea typeface="Calibri" pitchFamily="34" charset="-122"/>
                <a:cs typeface="Calibri" pitchFamily="34" charset="-120"/>
              </a:rPr>
              <a:t>A chunk that is genuinely relevant but no longer law is removed by rule, not by score.</a:t>
            </a:r>
            <a:endParaRPr lang="en-US" sz="1250" dirty="0"/>
          </a:p>
        </p:txBody>
      </p:sp>
      <p:sp>
        <p:nvSpPr>
          <p:cNvPr id="31" name="Text 29"/>
          <p:cNvSpPr/>
          <p:nvPr/>
        </p:nvSpPr>
        <p:spPr>
          <a:xfrm>
            <a:off x="594360" y="5477256"/>
            <a:ext cx="10607040" cy="292608"/>
          </a:xfrm>
          <a:prstGeom prst="rect">
            <a:avLst/>
          </a:prstGeom>
          <a:noFill/>
          <a:ln/>
        </p:spPr>
        <p:txBody>
          <a:bodyPr wrap="square" lIns="0" tIns="0" rIns="0" bIns="0" rtlCol="0" anchor="ctr"/>
          <a:lstStyle/>
          <a:p>
            <a:pPr indent="0" marL="0">
              <a:buNone/>
            </a:pPr>
            <a:r>
              <a:rPr lang="en-US" sz="1400" b="1" dirty="0">
                <a:solidFill>
                  <a:srgbClr val="16203A"/>
                </a:solidFill>
                <a:latin typeface="Cambria" pitchFamily="34" charset="0"/>
                <a:ea typeface="Cambria" pitchFamily="34" charset="-122"/>
                <a:cs typeface="Cambria" pitchFamily="34" charset="-120"/>
              </a:rPr>
              <a:t>Contact details never pass through the model</a:t>
            </a:r>
            <a:endParaRPr lang="en-US" sz="1400" dirty="0"/>
          </a:p>
        </p:txBody>
      </p:sp>
      <p:sp>
        <p:nvSpPr>
          <p:cNvPr id="32" name="Text 30"/>
          <p:cNvSpPr/>
          <p:nvPr/>
        </p:nvSpPr>
        <p:spPr>
          <a:xfrm>
            <a:off x="594360" y="5769864"/>
            <a:ext cx="10607040" cy="457200"/>
          </a:xfrm>
          <a:prstGeom prst="rect">
            <a:avLst/>
          </a:prstGeom>
          <a:noFill/>
          <a:ln/>
        </p:spPr>
        <p:txBody>
          <a:bodyPr wrap="square" lIns="0" tIns="0" rIns="0" bIns="0" rtlCol="0" anchor="ctr"/>
          <a:lstStyle/>
          <a:p>
            <a:pPr indent="0" marL="0">
              <a:buNone/>
            </a:pPr>
            <a:r>
              <a:rPr lang="en-US" sz="1250" dirty="0">
                <a:solidFill>
                  <a:srgbClr val="4A5462"/>
                </a:solidFill>
                <a:latin typeface="Calibri" pitchFamily="34" charset="0"/>
                <a:ea typeface="Calibri" pitchFamily="34" charset="-122"/>
                <a:cs typeface="Calibri" pitchFamily="34" charset="-120"/>
              </a:rPr>
              <a:t>Verified numbers are appended by code after validation, so the model cannot invent or corrupt one.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94360" y="457200"/>
            <a:ext cx="5486400" cy="228600"/>
          </a:xfrm>
          <a:prstGeom prst="rect">
            <a:avLst/>
          </a:prstGeom>
          <a:noFill/>
          <a:ln/>
        </p:spPr>
        <p:txBody>
          <a:bodyPr wrap="square" lIns="0" tIns="0" rIns="0" bIns="0" rtlCol="0" anchor="ctr"/>
          <a:lstStyle/>
          <a:p>
            <a:pPr indent="0" marL="0">
              <a:buNone/>
            </a:pPr>
            <a:r>
              <a:rPr lang="en-US" sz="1050" b="1" spc="200" kern="0" dirty="0">
                <a:solidFill>
                  <a:srgbClr val="8A929E"/>
                </a:solidFill>
                <a:latin typeface="Calibri" pitchFamily="34" charset="0"/>
                <a:ea typeface="Calibri" pitchFamily="34" charset="-122"/>
                <a:cs typeface="Calibri" pitchFamily="34" charset="-120"/>
              </a:rPr>
              <a:t>THE MEASUREMENT</a:t>
            </a:r>
            <a:endParaRPr lang="en-US" sz="1050" dirty="0"/>
          </a:p>
        </p:txBody>
      </p:sp>
      <p:sp>
        <p:nvSpPr>
          <p:cNvPr id="3" name="Text 1"/>
          <p:cNvSpPr/>
          <p:nvPr/>
        </p:nvSpPr>
        <p:spPr>
          <a:xfrm>
            <a:off x="594360" y="777240"/>
            <a:ext cx="10607040" cy="822960"/>
          </a:xfrm>
          <a:prstGeom prst="rect">
            <a:avLst/>
          </a:prstGeom>
          <a:noFill/>
          <a:ln/>
        </p:spPr>
        <p:txBody>
          <a:bodyPr wrap="square" lIns="0" tIns="0" rIns="0" bIns="0" rtlCol="0" anchor="ctr"/>
          <a:lstStyle/>
          <a:p>
            <a:pPr indent="0" marL="0">
              <a:buNone/>
            </a:pPr>
            <a:r>
              <a:rPr lang="en-US" sz="3400" b="1" dirty="0">
                <a:solidFill>
                  <a:srgbClr val="16203A"/>
                </a:solidFill>
                <a:latin typeface="Cambria" pitchFamily="34" charset="0"/>
                <a:ea typeface="Cambria" pitchFamily="34" charset="-122"/>
                <a:cs typeface="Cambria" pitchFamily="34" charset="-120"/>
              </a:rPr>
              <a:t>Ranked first. Dropped anyway.</a:t>
            </a:r>
            <a:endParaRPr lang="en-US" sz="3400" dirty="0"/>
          </a:p>
        </p:txBody>
      </p:sp>
      <p:sp>
        <p:nvSpPr>
          <p:cNvPr id="4" name="Text 2"/>
          <p:cNvSpPr/>
          <p:nvPr/>
        </p:nvSpPr>
        <p:spPr>
          <a:xfrm>
            <a:off x="594360" y="1737360"/>
            <a:ext cx="3840480" cy="1280160"/>
          </a:xfrm>
          <a:prstGeom prst="rect">
            <a:avLst/>
          </a:prstGeom>
          <a:noFill/>
          <a:ln/>
        </p:spPr>
        <p:txBody>
          <a:bodyPr wrap="square" lIns="0" tIns="0" rIns="0" bIns="0" rtlCol="0" anchor="ctr"/>
          <a:lstStyle/>
          <a:p>
            <a:pPr indent="0" marL="0">
              <a:buNone/>
            </a:pPr>
            <a:r>
              <a:rPr lang="en-US" sz="7200" b="1" dirty="0">
                <a:solidFill>
                  <a:srgbClr val="A81E14"/>
                </a:solidFill>
                <a:latin typeface="Cambria" pitchFamily="34" charset="0"/>
                <a:ea typeface="Cambria" pitchFamily="34" charset="-122"/>
                <a:cs typeface="Cambria" pitchFamily="34" charset="-120"/>
              </a:rPr>
              <a:t>0.786</a:t>
            </a:r>
            <a:endParaRPr lang="en-US" sz="7200" dirty="0"/>
          </a:p>
        </p:txBody>
      </p:sp>
      <p:sp>
        <p:nvSpPr>
          <p:cNvPr id="5" name="Text 3"/>
          <p:cNvSpPr/>
          <p:nvPr/>
        </p:nvSpPr>
        <p:spPr>
          <a:xfrm>
            <a:off x="594360" y="2971800"/>
            <a:ext cx="3931920" cy="1005840"/>
          </a:xfrm>
          <a:prstGeom prst="rect">
            <a:avLst/>
          </a:prstGeom>
          <a:noFill/>
          <a:ln/>
        </p:spPr>
        <p:txBody>
          <a:bodyPr wrap="square" lIns="0" tIns="0" rIns="0" bIns="0" rtlCol="0" anchor="ctr"/>
          <a:lstStyle/>
          <a:p>
            <a:pPr indent="0" marL="0">
              <a:lnSpc>
                <a:spcPts val="2000"/>
              </a:lnSpc>
              <a:buNone/>
            </a:pPr>
            <a:r>
              <a:rPr lang="en-US" sz="1350" dirty="0">
                <a:solidFill>
                  <a:srgbClr val="4A5462"/>
                </a:solidFill>
                <a:latin typeface="Calibri" pitchFamily="34" charset="0"/>
                <a:ea typeface="Calibri" pitchFamily="34" charset="-122"/>
                <a:cs typeface="Calibri" pitchFamily="34" charset="-120"/>
              </a:rPr>
              <a:t>Similarity of the repealed Factories Act chunk: rank #1, the highest score in the entire test suite.</a:t>
            </a:r>
            <a:endParaRPr lang="en-US" sz="1350" dirty="0"/>
          </a:p>
        </p:txBody>
      </p:sp>
      <p:sp>
        <p:nvSpPr>
          <p:cNvPr id="6" name="Text 4"/>
          <p:cNvSpPr/>
          <p:nvPr/>
        </p:nvSpPr>
        <p:spPr>
          <a:xfrm>
            <a:off x="594360" y="4069080"/>
            <a:ext cx="3931920" cy="914400"/>
          </a:xfrm>
          <a:prstGeom prst="rect">
            <a:avLst/>
          </a:prstGeom>
          <a:noFill/>
          <a:ln/>
        </p:spPr>
        <p:txBody>
          <a:bodyPr wrap="square" lIns="0" tIns="0" rIns="0" bIns="0" rtlCol="0" anchor="ctr"/>
          <a:lstStyle/>
          <a:p>
            <a:pPr indent="0" marL="0">
              <a:lnSpc>
                <a:spcPts val="2000"/>
              </a:lnSpc>
              <a:buNone/>
            </a:pPr>
            <a:r>
              <a:rPr lang="en-US" sz="1400" i="1" dirty="0">
                <a:solidFill>
                  <a:srgbClr val="16203A"/>
                </a:solidFill>
                <a:latin typeface="Cambria" pitchFamily="34" charset="0"/>
                <a:ea typeface="Cambria" pitchFamily="34" charset="-122"/>
                <a:cs typeface="Cambria" pitchFamily="34" charset="-120"/>
              </a:rPr>
              <a:t>The gate dropped it, and the question was then answered correctly from the current Code.</a:t>
            </a:r>
            <a:endParaRPr lang="en-US" sz="1400" dirty="0"/>
          </a:p>
        </p:txBody>
      </p:sp>
      <p:sp>
        <p:nvSpPr>
          <p:cNvPr id="7" name="Text 5"/>
          <p:cNvSpPr/>
          <p:nvPr/>
        </p:nvSpPr>
        <p:spPr>
          <a:xfrm>
            <a:off x="4892040" y="1737360"/>
            <a:ext cx="6675120" cy="274320"/>
          </a:xfrm>
          <a:prstGeom prst="rect">
            <a:avLst/>
          </a:prstGeom>
          <a:noFill/>
          <a:ln/>
        </p:spPr>
        <p:txBody>
          <a:bodyPr wrap="square" lIns="0" tIns="0" rIns="0" bIns="0" rtlCol="0" anchor="ctr"/>
          <a:lstStyle/>
          <a:p>
            <a:pPr indent="0" marL="0">
              <a:buNone/>
            </a:pPr>
            <a:r>
              <a:rPr lang="en-US" sz="1050" b="1" spc="100" kern="0" dirty="0">
                <a:solidFill>
                  <a:srgbClr val="8A929E"/>
                </a:solidFill>
                <a:latin typeface="Calibri" pitchFamily="34" charset="0"/>
                <a:ea typeface="Calibri" pitchFamily="34" charset="-122"/>
                <a:cs typeface="Calibri" pitchFamily="34" charset="-120"/>
              </a:rPr>
              <a:t>RETRIEVED FOR “what does the Factories Act say the factory must do”</a:t>
            </a:r>
            <a:endParaRPr lang="en-US" sz="1050" dirty="0"/>
          </a:p>
        </p:txBody>
      </p:sp>
      <p:sp>
        <p:nvSpPr>
          <p:cNvPr id="8" name="Shape 6"/>
          <p:cNvSpPr/>
          <p:nvPr/>
        </p:nvSpPr>
        <p:spPr>
          <a:xfrm>
            <a:off x="4892040" y="2148840"/>
            <a:ext cx="6675120" cy="566928"/>
          </a:xfrm>
          <a:prstGeom prst="rect">
            <a:avLst/>
          </a:prstGeom>
          <a:solidFill>
            <a:srgbClr val="FBEAE8"/>
          </a:solidFill>
          <a:ln w="12700">
            <a:solidFill>
              <a:srgbClr val="D8DCE3"/>
            </a:solidFill>
            <a:prstDash val="solid"/>
          </a:ln>
        </p:spPr>
      </p:sp>
      <p:sp>
        <p:nvSpPr>
          <p:cNvPr id="9" name="Text 7"/>
          <p:cNvSpPr/>
          <p:nvPr/>
        </p:nvSpPr>
        <p:spPr>
          <a:xfrm>
            <a:off x="5029200" y="2148840"/>
            <a:ext cx="320040" cy="566928"/>
          </a:xfrm>
          <a:prstGeom prst="rect">
            <a:avLst/>
          </a:prstGeom>
          <a:noFill/>
          <a:ln/>
        </p:spPr>
        <p:txBody>
          <a:bodyPr wrap="square" lIns="0" tIns="0" rIns="0" bIns="0" rtlCol="0" anchor="ctr"/>
          <a:lstStyle/>
          <a:p>
            <a:pPr indent="0" marL="0">
              <a:buNone/>
            </a:pPr>
            <a:r>
              <a:rPr lang="en-US" sz="1200" b="1" dirty="0">
                <a:solidFill>
                  <a:srgbClr val="8A929E"/>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5394960" y="2148840"/>
            <a:ext cx="777240" cy="566928"/>
          </a:xfrm>
          <a:prstGeom prst="rect">
            <a:avLst/>
          </a:prstGeom>
          <a:noFill/>
          <a:ln/>
        </p:spPr>
        <p:txBody>
          <a:bodyPr wrap="square" lIns="0" tIns="0" rIns="0" bIns="0" rtlCol="0" anchor="ctr"/>
          <a:lstStyle/>
          <a:p>
            <a:pPr indent="0" marL="0">
              <a:buNone/>
            </a:pPr>
            <a:r>
              <a:rPr lang="en-US" sz="1300" b="1" dirty="0">
                <a:solidFill>
                  <a:srgbClr val="A81E14"/>
                </a:solidFill>
                <a:latin typeface="Calibri" pitchFamily="34" charset="0"/>
                <a:ea typeface="Calibri" pitchFamily="34" charset="-122"/>
                <a:cs typeface="Calibri" pitchFamily="34" charset="-120"/>
              </a:rPr>
              <a:t>0.786</a:t>
            </a:r>
            <a:endParaRPr lang="en-US" sz="1300" dirty="0"/>
          </a:p>
        </p:txBody>
      </p:sp>
      <p:sp>
        <p:nvSpPr>
          <p:cNvPr id="11" name="Text 9"/>
          <p:cNvSpPr/>
          <p:nvPr/>
        </p:nvSpPr>
        <p:spPr>
          <a:xfrm>
            <a:off x="6217920" y="2148840"/>
            <a:ext cx="3657600" cy="566928"/>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Factories Act 1948</a:t>
            </a:r>
            <a:endParaRPr lang="en-US" sz="1150" dirty="0"/>
          </a:p>
        </p:txBody>
      </p:sp>
      <p:sp>
        <p:nvSpPr>
          <p:cNvPr id="12" name="Text 10"/>
          <p:cNvSpPr/>
          <p:nvPr/>
        </p:nvSpPr>
        <p:spPr>
          <a:xfrm>
            <a:off x="9921240" y="2148840"/>
            <a:ext cx="1554480" cy="566928"/>
          </a:xfrm>
          <a:prstGeom prst="rect">
            <a:avLst/>
          </a:prstGeom>
          <a:noFill/>
          <a:ln/>
        </p:spPr>
        <p:txBody>
          <a:bodyPr wrap="square" lIns="0" tIns="0" rIns="0" bIns="0" rtlCol="0" anchor="ctr"/>
          <a:lstStyle/>
          <a:p>
            <a:pPr algn="r" indent="0" marL="0">
              <a:buNone/>
            </a:pPr>
            <a:r>
              <a:rPr lang="en-US" sz="950" b="1" dirty="0">
                <a:solidFill>
                  <a:srgbClr val="A81E14"/>
                </a:solidFill>
                <a:latin typeface="Calibri" pitchFamily="34" charset="0"/>
                <a:ea typeface="Calibri" pitchFamily="34" charset="-122"/>
                <a:cs typeface="Calibri" pitchFamily="34" charset="-120"/>
              </a:rPr>
              <a:t>REPEALED, DROPPED</a:t>
            </a:r>
            <a:endParaRPr lang="en-US" sz="950" dirty="0"/>
          </a:p>
        </p:txBody>
      </p:sp>
      <p:sp>
        <p:nvSpPr>
          <p:cNvPr id="13" name="Shape 11"/>
          <p:cNvSpPr/>
          <p:nvPr/>
        </p:nvSpPr>
        <p:spPr>
          <a:xfrm>
            <a:off x="4892040" y="2807208"/>
            <a:ext cx="6675120" cy="566928"/>
          </a:xfrm>
          <a:prstGeom prst="rect">
            <a:avLst/>
          </a:prstGeom>
          <a:solidFill>
            <a:srgbClr val="FFFFFF"/>
          </a:solidFill>
          <a:ln w="12700">
            <a:solidFill>
              <a:srgbClr val="D8DCE3"/>
            </a:solidFill>
            <a:prstDash val="solid"/>
          </a:ln>
        </p:spPr>
      </p:sp>
      <p:sp>
        <p:nvSpPr>
          <p:cNvPr id="14" name="Text 12"/>
          <p:cNvSpPr/>
          <p:nvPr/>
        </p:nvSpPr>
        <p:spPr>
          <a:xfrm>
            <a:off x="5029200" y="2807208"/>
            <a:ext cx="320040" cy="566928"/>
          </a:xfrm>
          <a:prstGeom prst="rect">
            <a:avLst/>
          </a:prstGeom>
          <a:noFill/>
          <a:ln/>
        </p:spPr>
        <p:txBody>
          <a:bodyPr wrap="square" lIns="0" tIns="0" rIns="0" bIns="0" rtlCol="0" anchor="ctr"/>
          <a:lstStyle/>
          <a:p>
            <a:pPr indent="0" marL="0">
              <a:buNone/>
            </a:pPr>
            <a:r>
              <a:rPr lang="en-US" sz="1200" b="1" dirty="0">
                <a:solidFill>
                  <a:srgbClr val="8A929E"/>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5394960" y="2807208"/>
            <a:ext cx="777240" cy="566928"/>
          </a:xfrm>
          <a:prstGeom prst="rect">
            <a:avLst/>
          </a:prstGeom>
          <a:noFill/>
          <a:ln/>
        </p:spPr>
        <p:txBody>
          <a:bodyPr wrap="square" lIns="0" tIns="0" rIns="0" bIns="0" rtlCol="0" anchor="ctr"/>
          <a:lstStyle/>
          <a:p>
            <a:pPr indent="0" marL="0">
              <a:buNone/>
            </a:pPr>
            <a:r>
              <a:rPr lang="en-US" sz="1300" b="1" dirty="0">
                <a:solidFill>
                  <a:srgbClr val="1A6349"/>
                </a:solidFill>
                <a:latin typeface="Calibri" pitchFamily="34" charset="0"/>
                <a:ea typeface="Calibri" pitchFamily="34" charset="-122"/>
                <a:cs typeface="Calibri" pitchFamily="34" charset="-120"/>
              </a:rPr>
              <a:t>0.775</a:t>
            </a:r>
            <a:endParaRPr lang="en-US" sz="1300" dirty="0"/>
          </a:p>
        </p:txBody>
      </p:sp>
      <p:sp>
        <p:nvSpPr>
          <p:cNvPr id="16" name="Text 14"/>
          <p:cNvSpPr/>
          <p:nvPr/>
        </p:nvSpPr>
        <p:spPr>
          <a:xfrm>
            <a:off x="6217920" y="2807208"/>
            <a:ext cx="3657600" cy="566928"/>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OSHWC Code 2020: which law applies now</a:t>
            </a:r>
            <a:endParaRPr lang="en-US" sz="1150" dirty="0"/>
          </a:p>
        </p:txBody>
      </p:sp>
      <p:sp>
        <p:nvSpPr>
          <p:cNvPr id="17" name="Text 15"/>
          <p:cNvSpPr/>
          <p:nvPr/>
        </p:nvSpPr>
        <p:spPr>
          <a:xfrm>
            <a:off x="9921240" y="2807208"/>
            <a:ext cx="1554480" cy="566928"/>
          </a:xfrm>
          <a:prstGeom prst="rect">
            <a:avLst/>
          </a:prstGeom>
          <a:noFill/>
          <a:ln/>
        </p:spPr>
        <p:txBody>
          <a:bodyPr wrap="square" lIns="0" tIns="0" rIns="0" bIns="0" rtlCol="0" anchor="ctr"/>
          <a:lstStyle/>
          <a:p>
            <a:pPr algn="r" indent="0" marL="0">
              <a:buNone/>
            </a:pPr>
            <a:r>
              <a:rPr lang="en-US" sz="950" dirty="0">
                <a:solidFill>
                  <a:srgbClr val="1A6349"/>
                </a:solidFill>
                <a:latin typeface="Calibri" pitchFamily="34" charset="0"/>
                <a:ea typeface="Calibri" pitchFamily="34" charset="-122"/>
                <a:cs typeface="Calibri" pitchFamily="34" charset="-120"/>
              </a:rPr>
              <a:t>in force</a:t>
            </a:r>
            <a:endParaRPr lang="en-US" sz="950" dirty="0"/>
          </a:p>
        </p:txBody>
      </p:sp>
      <p:sp>
        <p:nvSpPr>
          <p:cNvPr id="18" name="Shape 16"/>
          <p:cNvSpPr/>
          <p:nvPr/>
        </p:nvSpPr>
        <p:spPr>
          <a:xfrm>
            <a:off x="4892040" y="3465576"/>
            <a:ext cx="6675120" cy="566928"/>
          </a:xfrm>
          <a:prstGeom prst="rect">
            <a:avLst/>
          </a:prstGeom>
          <a:solidFill>
            <a:srgbClr val="FFFFFF"/>
          </a:solidFill>
          <a:ln w="12700">
            <a:solidFill>
              <a:srgbClr val="D8DCE3"/>
            </a:solidFill>
            <a:prstDash val="solid"/>
          </a:ln>
        </p:spPr>
      </p:sp>
      <p:sp>
        <p:nvSpPr>
          <p:cNvPr id="19" name="Text 17"/>
          <p:cNvSpPr/>
          <p:nvPr/>
        </p:nvSpPr>
        <p:spPr>
          <a:xfrm>
            <a:off x="5029200" y="3465576"/>
            <a:ext cx="320040" cy="566928"/>
          </a:xfrm>
          <a:prstGeom prst="rect">
            <a:avLst/>
          </a:prstGeom>
          <a:noFill/>
          <a:ln/>
        </p:spPr>
        <p:txBody>
          <a:bodyPr wrap="square" lIns="0" tIns="0" rIns="0" bIns="0" rtlCol="0" anchor="ctr"/>
          <a:lstStyle/>
          <a:p>
            <a:pPr indent="0" marL="0">
              <a:buNone/>
            </a:pPr>
            <a:r>
              <a:rPr lang="en-US" sz="1200" b="1" dirty="0">
                <a:solidFill>
                  <a:srgbClr val="8A929E"/>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5394960" y="3465576"/>
            <a:ext cx="777240" cy="566928"/>
          </a:xfrm>
          <a:prstGeom prst="rect">
            <a:avLst/>
          </a:prstGeom>
          <a:noFill/>
          <a:ln/>
        </p:spPr>
        <p:txBody>
          <a:bodyPr wrap="square" lIns="0" tIns="0" rIns="0" bIns="0" rtlCol="0" anchor="ctr"/>
          <a:lstStyle/>
          <a:p>
            <a:pPr indent="0" marL="0">
              <a:buNone/>
            </a:pPr>
            <a:r>
              <a:rPr lang="en-US" sz="1300" b="1" dirty="0">
                <a:solidFill>
                  <a:srgbClr val="1A6349"/>
                </a:solidFill>
                <a:latin typeface="Calibri" pitchFamily="34" charset="0"/>
                <a:ea typeface="Calibri" pitchFamily="34" charset="-122"/>
                <a:cs typeface="Calibri" pitchFamily="34" charset="-120"/>
              </a:rPr>
              <a:t>0.761</a:t>
            </a:r>
            <a:endParaRPr lang="en-US" sz="1300" dirty="0"/>
          </a:p>
        </p:txBody>
      </p:sp>
      <p:sp>
        <p:nvSpPr>
          <p:cNvPr id="21" name="Text 19"/>
          <p:cNvSpPr/>
          <p:nvPr/>
        </p:nvSpPr>
        <p:spPr>
          <a:xfrm>
            <a:off x="6217920" y="3465576"/>
            <a:ext cx="3657600" cy="566928"/>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OSHWC Code 2020: employer safety duty</a:t>
            </a:r>
            <a:endParaRPr lang="en-US" sz="1150" dirty="0"/>
          </a:p>
        </p:txBody>
      </p:sp>
      <p:sp>
        <p:nvSpPr>
          <p:cNvPr id="22" name="Text 20"/>
          <p:cNvSpPr/>
          <p:nvPr/>
        </p:nvSpPr>
        <p:spPr>
          <a:xfrm>
            <a:off x="9921240" y="3465576"/>
            <a:ext cx="1554480" cy="566928"/>
          </a:xfrm>
          <a:prstGeom prst="rect">
            <a:avLst/>
          </a:prstGeom>
          <a:noFill/>
          <a:ln/>
        </p:spPr>
        <p:txBody>
          <a:bodyPr wrap="square" lIns="0" tIns="0" rIns="0" bIns="0" rtlCol="0" anchor="ctr"/>
          <a:lstStyle/>
          <a:p>
            <a:pPr algn="r" indent="0" marL="0">
              <a:buNone/>
            </a:pPr>
            <a:r>
              <a:rPr lang="en-US" sz="950" dirty="0">
                <a:solidFill>
                  <a:srgbClr val="1A6349"/>
                </a:solidFill>
                <a:latin typeface="Calibri" pitchFamily="34" charset="0"/>
                <a:ea typeface="Calibri" pitchFamily="34" charset="-122"/>
                <a:cs typeface="Calibri" pitchFamily="34" charset="-120"/>
              </a:rPr>
              <a:t>in force</a:t>
            </a:r>
            <a:endParaRPr lang="en-US" sz="950" dirty="0"/>
          </a:p>
        </p:txBody>
      </p:sp>
      <p:sp>
        <p:nvSpPr>
          <p:cNvPr id="23" name="Shape 21"/>
          <p:cNvSpPr/>
          <p:nvPr/>
        </p:nvSpPr>
        <p:spPr>
          <a:xfrm>
            <a:off x="4892040" y="4123944"/>
            <a:ext cx="6675120" cy="566928"/>
          </a:xfrm>
          <a:prstGeom prst="rect">
            <a:avLst/>
          </a:prstGeom>
          <a:solidFill>
            <a:srgbClr val="FFFFFF"/>
          </a:solidFill>
          <a:ln w="12700">
            <a:solidFill>
              <a:srgbClr val="D8DCE3"/>
            </a:solidFill>
            <a:prstDash val="solid"/>
          </a:ln>
        </p:spPr>
      </p:sp>
      <p:sp>
        <p:nvSpPr>
          <p:cNvPr id="24" name="Text 22"/>
          <p:cNvSpPr/>
          <p:nvPr/>
        </p:nvSpPr>
        <p:spPr>
          <a:xfrm>
            <a:off x="5029200" y="4123944"/>
            <a:ext cx="320040" cy="566928"/>
          </a:xfrm>
          <a:prstGeom prst="rect">
            <a:avLst/>
          </a:prstGeom>
          <a:noFill/>
          <a:ln/>
        </p:spPr>
        <p:txBody>
          <a:bodyPr wrap="square" lIns="0" tIns="0" rIns="0" bIns="0" rtlCol="0" anchor="ctr"/>
          <a:lstStyle/>
          <a:p>
            <a:pPr indent="0" marL="0">
              <a:buNone/>
            </a:pPr>
            <a:r>
              <a:rPr lang="en-US" sz="1200" b="1" dirty="0">
                <a:solidFill>
                  <a:srgbClr val="8A929E"/>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5394960" y="4123944"/>
            <a:ext cx="777240" cy="566928"/>
          </a:xfrm>
          <a:prstGeom prst="rect">
            <a:avLst/>
          </a:prstGeom>
          <a:noFill/>
          <a:ln/>
        </p:spPr>
        <p:txBody>
          <a:bodyPr wrap="square" lIns="0" tIns="0" rIns="0" bIns="0" rtlCol="0" anchor="ctr"/>
          <a:lstStyle/>
          <a:p>
            <a:pPr indent="0" marL="0">
              <a:buNone/>
            </a:pPr>
            <a:r>
              <a:rPr lang="en-US" sz="1300" b="1" dirty="0">
                <a:solidFill>
                  <a:srgbClr val="1A6349"/>
                </a:solidFill>
                <a:latin typeface="Calibri" pitchFamily="34" charset="0"/>
                <a:ea typeface="Calibri" pitchFamily="34" charset="-122"/>
                <a:cs typeface="Calibri" pitchFamily="34" charset="-120"/>
              </a:rPr>
              <a:t>0.731</a:t>
            </a:r>
            <a:endParaRPr lang="en-US" sz="1300" dirty="0"/>
          </a:p>
        </p:txBody>
      </p:sp>
      <p:sp>
        <p:nvSpPr>
          <p:cNvPr id="26" name="Text 24"/>
          <p:cNvSpPr/>
          <p:nvPr/>
        </p:nvSpPr>
        <p:spPr>
          <a:xfrm>
            <a:off x="6217920" y="4123944"/>
            <a:ext cx="3657600" cy="566928"/>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OSHWC Code 2020: duty to notify a death</a:t>
            </a:r>
            <a:endParaRPr lang="en-US" sz="1150" dirty="0"/>
          </a:p>
        </p:txBody>
      </p:sp>
      <p:sp>
        <p:nvSpPr>
          <p:cNvPr id="27" name="Text 25"/>
          <p:cNvSpPr/>
          <p:nvPr/>
        </p:nvSpPr>
        <p:spPr>
          <a:xfrm>
            <a:off x="9921240" y="4123944"/>
            <a:ext cx="1554480" cy="566928"/>
          </a:xfrm>
          <a:prstGeom prst="rect">
            <a:avLst/>
          </a:prstGeom>
          <a:noFill/>
          <a:ln/>
        </p:spPr>
        <p:txBody>
          <a:bodyPr wrap="square" lIns="0" tIns="0" rIns="0" bIns="0" rtlCol="0" anchor="ctr"/>
          <a:lstStyle/>
          <a:p>
            <a:pPr algn="r" indent="0" marL="0">
              <a:buNone/>
            </a:pPr>
            <a:r>
              <a:rPr lang="en-US" sz="950" dirty="0">
                <a:solidFill>
                  <a:srgbClr val="1A6349"/>
                </a:solidFill>
                <a:latin typeface="Calibri" pitchFamily="34" charset="0"/>
                <a:ea typeface="Calibri" pitchFamily="34" charset="-122"/>
                <a:cs typeface="Calibri" pitchFamily="34" charset="-120"/>
              </a:rPr>
              <a:t>in force</a:t>
            </a:r>
            <a:endParaRPr lang="en-US" sz="950" dirty="0"/>
          </a:p>
        </p:txBody>
      </p:sp>
      <p:sp>
        <p:nvSpPr>
          <p:cNvPr id="28" name="Shape 26"/>
          <p:cNvSpPr/>
          <p:nvPr/>
        </p:nvSpPr>
        <p:spPr>
          <a:xfrm>
            <a:off x="4892040" y="4782312"/>
            <a:ext cx="6675120" cy="566928"/>
          </a:xfrm>
          <a:prstGeom prst="rect">
            <a:avLst/>
          </a:prstGeom>
          <a:solidFill>
            <a:srgbClr val="FFFFFF"/>
          </a:solidFill>
          <a:ln w="12700">
            <a:solidFill>
              <a:srgbClr val="D8DCE3"/>
            </a:solidFill>
            <a:prstDash val="solid"/>
          </a:ln>
        </p:spPr>
      </p:sp>
      <p:sp>
        <p:nvSpPr>
          <p:cNvPr id="29" name="Text 27"/>
          <p:cNvSpPr/>
          <p:nvPr/>
        </p:nvSpPr>
        <p:spPr>
          <a:xfrm>
            <a:off x="5029200" y="4782312"/>
            <a:ext cx="320040" cy="566928"/>
          </a:xfrm>
          <a:prstGeom prst="rect">
            <a:avLst/>
          </a:prstGeom>
          <a:noFill/>
          <a:ln/>
        </p:spPr>
        <p:txBody>
          <a:bodyPr wrap="square" lIns="0" tIns="0" rIns="0" bIns="0" rtlCol="0" anchor="ctr"/>
          <a:lstStyle/>
          <a:p>
            <a:pPr indent="0" marL="0">
              <a:buNone/>
            </a:pPr>
            <a:r>
              <a:rPr lang="en-US" sz="1200" b="1" dirty="0">
                <a:solidFill>
                  <a:srgbClr val="8A929E"/>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5394960" y="4782312"/>
            <a:ext cx="777240" cy="566928"/>
          </a:xfrm>
          <a:prstGeom prst="rect">
            <a:avLst/>
          </a:prstGeom>
          <a:noFill/>
          <a:ln/>
        </p:spPr>
        <p:txBody>
          <a:bodyPr wrap="square" lIns="0" tIns="0" rIns="0" bIns="0" rtlCol="0" anchor="ctr"/>
          <a:lstStyle/>
          <a:p>
            <a:pPr indent="0" marL="0">
              <a:buNone/>
            </a:pPr>
            <a:r>
              <a:rPr lang="en-US" sz="1300" b="1" dirty="0">
                <a:solidFill>
                  <a:srgbClr val="1A6349"/>
                </a:solidFill>
                <a:latin typeface="Calibri" pitchFamily="34" charset="0"/>
                <a:ea typeface="Calibri" pitchFamily="34" charset="-122"/>
                <a:cs typeface="Calibri" pitchFamily="34" charset="-120"/>
              </a:rPr>
              <a:t>0.715</a:t>
            </a:r>
            <a:endParaRPr lang="en-US" sz="1300" dirty="0"/>
          </a:p>
        </p:txBody>
      </p:sp>
      <p:sp>
        <p:nvSpPr>
          <p:cNvPr id="31" name="Text 29"/>
          <p:cNvSpPr/>
          <p:nvPr/>
        </p:nvSpPr>
        <p:spPr>
          <a:xfrm>
            <a:off x="6217920" y="4782312"/>
            <a:ext cx="3657600" cy="566928"/>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Social Security Code 2020: s.74 liability</a:t>
            </a:r>
            <a:endParaRPr lang="en-US" sz="1150" dirty="0"/>
          </a:p>
        </p:txBody>
      </p:sp>
      <p:sp>
        <p:nvSpPr>
          <p:cNvPr id="32" name="Text 30"/>
          <p:cNvSpPr/>
          <p:nvPr/>
        </p:nvSpPr>
        <p:spPr>
          <a:xfrm>
            <a:off x="9921240" y="4782312"/>
            <a:ext cx="1554480" cy="566928"/>
          </a:xfrm>
          <a:prstGeom prst="rect">
            <a:avLst/>
          </a:prstGeom>
          <a:noFill/>
          <a:ln/>
        </p:spPr>
        <p:txBody>
          <a:bodyPr wrap="square" lIns="0" tIns="0" rIns="0" bIns="0" rtlCol="0" anchor="ctr"/>
          <a:lstStyle/>
          <a:p>
            <a:pPr algn="r" indent="0" marL="0">
              <a:buNone/>
            </a:pPr>
            <a:r>
              <a:rPr lang="en-US" sz="950" dirty="0">
                <a:solidFill>
                  <a:srgbClr val="1A6349"/>
                </a:solidFill>
                <a:latin typeface="Calibri" pitchFamily="34" charset="0"/>
                <a:ea typeface="Calibri" pitchFamily="34" charset="-122"/>
                <a:cs typeface="Calibri" pitchFamily="34" charset="-120"/>
              </a:rPr>
              <a:t>in force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94360" y="457200"/>
            <a:ext cx="5486400" cy="228600"/>
          </a:xfrm>
          <a:prstGeom prst="rect">
            <a:avLst/>
          </a:prstGeom>
          <a:noFill/>
          <a:ln/>
        </p:spPr>
        <p:txBody>
          <a:bodyPr wrap="square" lIns="0" tIns="0" rIns="0" bIns="0" rtlCol="0" anchor="ctr"/>
          <a:lstStyle/>
          <a:p>
            <a:pPr indent="0" marL="0">
              <a:buNone/>
            </a:pPr>
            <a:r>
              <a:rPr lang="en-US" sz="1050" b="1" spc="200" kern="0" dirty="0">
                <a:solidFill>
                  <a:srgbClr val="8A929E"/>
                </a:solidFill>
                <a:latin typeface="Calibri" pitchFamily="34" charset="0"/>
                <a:ea typeface="Calibri" pitchFamily="34" charset="-122"/>
                <a:cs typeface="Calibri" pitchFamily="34" charset="-120"/>
              </a:rPr>
              <a:t>MAKING IT SPEAK</a:t>
            </a:r>
            <a:endParaRPr lang="en-US" sz="1050" dirty="0"/>
          </a:p>
        </p:txBody>
      </p:sp>
      <p:sp>
        <p:nvSpPr>
          <p:cNvPr id="3" name="Text 1"/>
          <p:cNvSpPr/>
          <p:nvPr/>
        </p:nvSpPr>
        <p:spPr>
          <a:xfrm>
            <a:off x="594360" y="777240"/>
            <a:ext cx="10607040" cy="822960"/>
          </a:xfrm>
          <a:prstGeom prst="rect">
            <a:avLst/>
          </a:prstGeom>
          <a:noFill/>
          <a:ln/>
        </p:spPr>
        <p:txBody>
          <a:bodyPr wrap="square" lIns="0" tIns="0" rIns="0" bIns="0" rtlCol="0" anchor="ctr"/>
          <a:lstStyle/>
          <a:p>
            <a:pPr indent="0" marL="0">
              <a:buNone/>
            </a:pPr>
            <a:r>
              <a:rPr lang="en-US" sz="3400" b="1" dirty="0">
                <a:solidFill>
                  <a:srgbClr val="16203A"/>
                </a:solidFill>
                <a:latin typeface="Cambria" pitchFamily="34" charset="0"/>
                <a:ea typeface="Cambria" pitchFamily="34" charset="-122"/>
                <a:cs typeface="Cambria" pitchFamily="34" charset="-120"/>
              </a:rPr>
              <a:t>Good answers, and an invented helpline</a:t>
            </a:r>
            <a:endParaRPr lang="en-US" sz="3400" dirty="0"/>
          </a:p>
        </p:txBody>
      </p:sp>
      <p:sp>
        <p:nvSpPr>
          <p:cNvPr id="4" name="Shape 2"/>
          <p:cNvSpPr/>
          <p:nvPr/>
        </p:nvSpPr>
        <p:spPr>
          <a:xfrm>
            <a:off x="594360" y="1783080"/>
            <a:ext cx="5349240" cy="566928"/>
          </a:xfrm>
          <a:prstGeom prst="rect">
            <a:avLst/>
          </a:prstGeom>
          <a:solidFill>
            <a:srgbClr val="FBEAE8"/>
          </a:solidFill>
          <a:ln/>
        </p:spPr>
      </p:sp>
      <p:sp>
        <p:nvSpPr>
          <p:cNvPr id="5" name="Text 3"/>
          <p:cNvSpPr/>
          <p:nvPr/>
        </p:nvSpPr>
        <p:spPr>
          <a:xfrm>
            <a:off x="822960" y="1783080"/>
            <a:ext cx="4892040" cy="566928"/>
          </a:xfrm>
          <a:prstGeom prst="rect">
            <a:avLst/>
          </a:prstGeom>
          <a:noFill/>
          <a:ln/>
        </p:spPr>
        <p:txBody>
          <a:bodyPr wrap="square" lIns="0" tIns="0" rIns="0" bIns="0" rtlCol="0" anchor="ctr"/>
          <a:lstStyle/>
          <a:p>
            <a:pPr indent="0" marL="0">
              <a:buNone/>
            </a:pPr>
            <a:r>
              <a:rPr lang="en-US" sz="1600" b="1" dirty="0">
                <a:solidFill>
                  <a:srgbClr val="A81E14"/>
                </a:solidFill>
                <a:latin typeface="Cambria" pitchFamily="34" charset="0"/>
                <a:ea typeface="Cambria" pitchFamily="34" charset="-122"/>
                <a:cs typeface="Cambria" pitchFamily="34" charset="-120"/>
              </a:rPr>
              <a:t>Safety rules in the prompt</a:t>
            </a:r>
            <a:endParaRPr lang="en-US" sz="1600" dirty="0"/>
          </a:p>
        </p:txBody>
      </p:sp>
      <p:sp>
        <p:nvSpPr>
          <p:cNvPr id="6" name="Text 4"/>
          <p:cNvSpPr/>
          <p:nvPr/>
        </p:nvSpPr>
        <p:spPr>
          <a:xfrm>
            <a:off x="822960" y="2514600"/>
            <a:ext cx="4892040" cy="2286000"/>
          </a:xfrm>
          <a:prstGeom prst="rect">
            <a:avLst/>
          </a:prstGeom>
          <a:noFill/>
          <a:ln/>
        </p:spPr>
        <p:txBody>
          <a:bodyPr wrap="square" lIns="0" tIns="0" rIns="0" bIns="0" rtlCol="0" anchor="ctr"/>
          <a:lstStyle/>
          <a:p>
            <a:pPr marL="342900" indent="-342900">
              <a:lnSpc>
                <a:spcPts val="1800"/>
              </a:lnSpc>
              <a:spcAft>
                <a:spcPts val="900"/>
              </a:spcAft>
              <a:buSzPct val="100000"/>
              <a:buChar char="•"/>
            </a:pPr>
            <a:r>
              <a:rPr lang="en-US" sz="1250" dirty="0">
                <a:solidFill>
                  <a:srgbClr val="4A5462"/>
                </a:solidFill>
                <a:latin typeface="Calibri" pitchFamily="34" charset="0"/>
                <a:ea typeface="Calibri" pitchFamily="34" charset="-122"/>
                <a:cs typeface="Calibri" pitchFamily="34" charset="-120"/>
              </a:rPr>
              <a:t>Invented contact details in 3 of 6 answers, including a fake legal aid helpline number</a:t>
            </a:r>
            <a:endParaRPr lang="en-US" sz="1250" dirty="0"/>
          </a:p>
          <a:p>
            <a:pPr marL="342900" indent="-342900">
              <a:lnSpc>
                <a:spcPts val="1800"/>
              </a:lnSpc>
              <a:spcAft>
                <a:spcPts val="900"/>
              </a:spcAft>
              <a:buSzPct val="100000"/>
              <a:buChar char="•"/>
            </a:pPr>
            <a:r>
              <a:rPr lang="en-US" sz="1250" dirty="0">
                <a:solidFill>
                  <a:srgbClr val="4A5462"/>
                </a:solidFill>
                <a:latin typeface="Calibri" pitchFamily="34" charset="0"/>
                <a:ea typeface="Calibri" pitchFamily="34" charset="-122"/>
                <a:cs typeface="Calibri" pitchFamily="34" charset="-120"/>
              </a:rPr>
              <a:t>Stated a rupee figure the prompt had explicitly forbidden</a:t>
            </a:r>
            <a:endParaRPr lang="en-US" sz="1250" dirty="0"/>
          </a:p>
          <a:p>
            <a:pPr marL="342900" indent="-342900">
              <a:lnSpc>
                <a:spcPts val="1800"/>
              </a:lnSpc>
              <a:spcAft>
                <a:spcPts val="900"/>
              </a:spcAft>
              <a:buSzPct val="100000"/>
              <a:buChar char="•"/>
            </a:pPr>
            <a:r>
              <a:rPr lang="en-US" sz="1250" dirty="0">
                <a:solidFill>
                  <a:srgbClr val="4A5462"/>
                </a:solidFill>
                <a:latin typeface="Calibri" pitchFamily="34" charset="0"/>
                <a:ea typeface="Calibri" pitchFamily="34" charset="-122"/>
                <a:cs typeface="Calibri" pitchFamily="34" charset="-120"/>
              </a:rPr>
              <a:t>Answers ran 165–268 words, far past what a grieving reader can hold</a:t>
            </a:r>
            <a:endParaRPr lang="en-US" sz="1250" dirty="0"/>
          </a:p>
          <a:p>
            <a:pPr marL="342900" indent="-342900">
              <a:lnSpc>
                <a:spcPts val="1800"/>
              </a:lnSpc>
              <a:spcAft>
                <a:spcPts val="900"/>
              </a:spcAft>
              <a:buSzPct val="100000"/>
              <a:buChar char="•"/>
            </a:pPr>
            <a:r>
              <a:rPr lang="en-US" sz="1250" dirty="0">
                <a:solidFill>
                  <a:srgbClr val="4A5462"/>
                </a:solidFill>
                <a:latin typeface="Calibri" pitchFamily="34" charset="0"/>
                <a:ea typeface="Calibri" pitchFamily="34" charset="-122"/>
                <a:cs typeface="Calibri" pitchFamily="34" charset="-120"/>
              </a:rPr>
              <a:t>Complied most of the time, which looks fine in testing</a:t>
            </a:r>
            <a:endParaRPr lang="en-US" sz="1250" dirty="0"/>
          </a:p>
        </p:txBody>
      </p:sp>
      <p:sp>
        <p:nvSpPr>
          <p:cNvPr id="7" name="Shape 5"/>
          <p:cNvSpPr/>
          <p:nvPr/>
        </p:nvSpPr>
        <p:spPr>
          <a:xfrm>
            <a:off x="6217920" y="1783080"/>
            <a:ext cx="5349240" cy="566928"/>
          </a:xfrm>
          <a:prstGeom prst="rect">
            <a:avLst/>
          </a:prstGeom>
          <a:solidFill>
            <a:srgbClr val="E6F2ED"/>
          </a:solidFill>
          <a:ln/>
        </p:spPr>
      </p:sp>
      <p:sp>
        <p:nvSpPr>
          <p:cNvPr id="8" name="Text 6"/>
          <p:cNvSpPr/>
          <p:nvPr/>
        </p:nvSpPr>
        <p:spPr>
          <a:xfrm>
            <a:off x="6446520" y="1783080"/>
            <a:ext cx="4892040" cy="566928"/>
          </a:xfrm>
          <a:prstGeom prst="rect">
            <a:avLst/>
          </a:prstGeom>
          <a:noFill/>
          <a:ln/>
        </p:spPr>
        <p:txBody>
          <a:bodyPr wrap="square" lIns="0" tIns="0" rIns="0" bIns="0" rtlCol="0" anchor="ctr"/>
          <a:lstStyle/>
          <a:p>
            <a:pPr indent="0" marL="0">
              <a:buNone/>
            </a:pPr>
            <a:r>
              <a:rPr lang="en-US" sz="1600" b="1" dirty="0">
                <a:solidFill>
                  <a:srgbClr val="1A6349"/>
                </a:solidFill>
                <a:latin typeface="Cambria" pitchFamily="34" charset="0"/>
                <a:ea typeface="Cambria" pitchFamily="34" charset="-122"/>
                <a:cs typeface="Cambria" pitchFamily="34" charset="-120"/>
              </a:rPr>
              <a:t>A validator that runs before sending</a:t>
            </a:r>
            <a:endParaRPr lang="en-US" sz="1600" dirty="0"/>
          </a:p>
        </p:txBody>
      </p:sp>
      <p:sp>
        <p:nvSpPr>
          <p:cNvPr id="9" name="Text 7"/>
          <p:cNvSpPr/>
          <p:nvPr/>
        </p:nvSpPr>
        <p:spPr>
          <a:xfrm>
            <a:off x="6446520" y="2514600"/>
            <a:ext cx="4892040" cy="2286000"/>
          </a:xfrm>
          <a:prstGeom prst="rect">
            <a:avLst/>
          </a:prstGeom>
          <a:noFill/>
          <a:ln/>
        </p:spPr>
        <p:txBody>
          <a:bodyPr wrap="square" lIns="0" tIns="0" rIns="0" bIns="0" rtlCol="0" anchor="ctr"/>
          <a:lstStyle/>
          <a:p>
            <a:pPr marL="342900" indent="-342900">
              <a:lnSpc>
                <a:spcPts val="1800"/>
              </a:lnSpc>
              <a:spcAft>
                <a:spcPts val="900"/>
              </a:spcAft>
              <a:buSzPct val="100000"/>
              <a:buChar char="•"/>
            </a:pPr>
            <a:r>
              <a:rPr lang="en-US" sz="1250" dirty="0">
                <a:solidFill>
                  <a:srgbClr val="4A5462"/>
                </a:solidFill>
                <a:latin typeface="Calibri" pitchFamily="34" charset="0"/>
                <a:ea typeface="Calibri" pitchFamily="34" charset="-122"/>
                <a:cs typeface="Calibri" pitchFamily="34" charset="-120"/>
              </a:rPr>
              <a:t>Zero fabricated contacts. Verified numbers are appended by code, never generated</a:t>
            </a:r>
            <a:endParaRPr lang="en-US" sz="1250" dirty="0"/>
          </a:p>
          <a:p>
            <a:pPr marL="342900" indent="-342900">
              <a:lnSpc>
                <a:spcPts val="1800"/>
              </a:lnSpc>
              <a:spcAft>
                <a:spcPts val="900"/>
              </a:spcAft>
              <a:buSzPct val="100000"/>
              <a:buChar char="•"/>
            </a:pPr>
            <a:r>
              <a:rPr lang="en-US" sz="1250" dirty="0">
                <a:solidFill>
                  <a:srgbClr val="4A5462"/>
                </a:solidFill>
                <a:latin typeface="Calibri" pitchFamily="34" charset="0"/>
                <a:ea typeface="Calibri" pitchFamily="34" charset="-122"/>
                <a:cs typeface="Calibri" pitchFamily="34" charset="-120"/>
              </a:rPr>
              <a:t>Every figure must appear verbatim in the retrieved law, so a computed number cannot pass</a:t>
            </a:r>
            <a:endParaRPr lang="en-US" sz="1250" dirty="0"/>
          </a:p>
          <a:p>
            <a:pPr marL="342900" indent="-342900">
              <a:lnSpc>
                <a:spcPts val="1800"/>
              </a:lnSpc>
              <a:spcAft>
                <a:spcPts val="900"/>
              </a:spcAft>
              <a:buSzPct val="100000"/>
              <a:buChar char="•"/>
            </a:pPr>
            <a:r>
              <a:rPr lang="en-US" sz="1250" dirty="0">
                <a:solidFill>
                  <a:srgbClr val="4A5462"/>
                </a:solidFill>
                <a:latin typeface="Calibri" pitchFamily="34" charset="0"/>
                <a:ea typeface="Calibri" pitchFamily="34" charset="-122"/>
                <a:cs typeface="Calibri" pitchFamily="34" charset="-120"/>
              </a:rPr>
              <a:t>Every section citation grounded the same way</a:t>
            </a:r>
            <a:endParaRPr lang="en-US" sz="1250" dirty="0"/>
          </a:p>
          <a:p>
            <a:pPr marL="342900" indent="-342900">
              <a:lnSpc>
                <a:spcPts val="1800"/>
              </a:lnSpc>
              <a:spcAft>
                <a:spcPts val="900"/>
              </a:spcAft>
              <a:buSzPct val="100000"/>
              <a:buChar char="•"/>
            </a:pPr>
            <a:r>
              <a:rPr lang="en-US" sz="1250" dirty="0">
                <a:solidFill>
                  <a:srgbClr val="4A5462"/>
                </a:solidFill>
                <a:latin typeface="Calibri" pitchFamily="34" charset="0"/>
                <a:ea typeface="Calibri" pitchFamily="34" charset="-122"/>
                <a:cs typeface="Calibri" pitchFamily="34" charset="-120"/>
              </a:rPr>
              <a:t>Every refusal logged as evidence of a gap in the knowledge base</a:t>
            </a:r>
            <a:endParaRPr lang="en-US" sz="1250" dirty="0"/>
          </a:p>
        </p:txBody>
      </p:sp>
      <p:sp>
        <p:nvSpPr>
          <p:cNvPr id="10" name="Shape 8"/>
          <p:cNvSpPr/>
          <p:nvPr/>
        </p:nvSpPr>
        <p:spPr>
          <a:xfrm>
            <a:off x="594360" y="5074920"/>
            <a:ext cx="10972800" cy="1005840"/>
          </a:xfrm>
          <a:prstGeom prst="rect">
            <a:avLst/>
          </a:prstGeom>
          <a:solidFill>
            <a:srgbClr val="FFFFFF"/>
          </a:solidFill>
          <a:ln w="12700">
            <a:solidFill>
              <a:srgbClr val="D8DCE3"/>
            </a:solidFill>
            <a:prstDash val="solid"/>
          </a:ln>
        </p:spPr>
      </p:sp>
      <p:sp>
        <p:nvSpPr>
          <p:cNvPr id="11" name="Text 9"/>
          <p:cNvSpPr/>
          <p:nvPr/>
        </p:nvSpPr>
        <p:spPr>
          <a:xfrm>
            <a:off x="868680" y="5193792"/>
            <a:ext cx="10424160" cy="274320"/>
          </a:xfrm>
          <a:prstGeom prst="rect">
            <a:avLst/>
          </a:prstGeom>
          <a:noFill/>
          <a:ln/>
        </p:spPr>
        <p:txBody>
          <a:bodyPr wrap="square" lIns="0" tIns="0" rIns="0" bIns="0" rtlCol="0" anchor="ctr"/>
          <a:lstStyle/>
          <a:p>
            <a:pPr indent="0" marL="0">
              <a:buNone/>
            </a:pPr>
            <a:r>
              <a:rPr lang="en-US" sz="1400" b="1" dirty="0">
                <a:solidFill>
                  <a:srgbClr val="16203A"/>
                </a:solidFill>
                <a:latin typeface="Cambria" pitchFamily="34" charset="0"/>
                <a:ea typeface="Cambria" pitchFamily="34" charset="-122"/>
                <a:cs typeface="Cambria" pitchFamily="34" charset="-120"/>
              </a:rPr>
              <a:t>The validator refused one correct answer, and that was the useful result.</a:t>
            </a:r>
            <a:endParaRPr lang="en-US" sz="1400" dirty="0"/>
          </a:p>
        </p:txBody>
      </p:sp>
      <p:sp>
        <p:nvSpPr>
          <p:cNvPr id="12" name="Text 10"/>
          <p:cNvSpPr/>
          <p:nvPr/>
        </p:nvSpPr>
        <p:spPr>
          <a:xfrm>
            <a:off x="868680" y="5468112"/>
            <a:ext cx="10424160" cy="548640"/>
          </a:xfrm>
          <a:prstGeom prst="rect">
            <a:avLst/>
          </a:prstGeom>
          <a:noFill/>
          <a:ln/>
        </p:spPr>
        <p:txBody>
          <a:bodyPr wrap="square" lIns="0" tIns="0" rIns="0" bIns="0" rtlCol="0" anchor="ctr"/>
          <a:lstStyle/>
          <a:p>
            <a:pPr indent="0" marL="0">
              <a:lnSpc>
                <a:spcPts val="1600"/>
              </a:lnSpc>
              <a:buNone/>
            </a:pPr>
            <a:r>
              <a:rPr lang="en-US" sz="1150" dirty="0">
                <a:solidFill>
                  <a:srgbClr val="4A5462"/>
                </a:solidFill>
                <a:latin typeface="Calibri" pitchFamily="34" charset="0"/>
                <a:ea typeface="Calibri" pitchFamily="34" charset="-122"/>
                <a:cs typeface="Calibri" pitchFamily="34" charset="-120"/>
              </a:rPr>
              <a:t>The Code writes “fifty per cent.” in words; the model wrote “50 %” in numerals; the check compares literally. One case passed by writing “half”, another was withheld for writing the same fact in digits, so which answer a family got was a coin flip on phrasing. Fixed in the source text, not by weakening the check.</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94360" y="457200"/>
            <a:ext cx="5486400" cy="228600"/>
          </a:xfrm>
          <a:prstGeom prst="rect">
            <a:avLst/>
          </a:prstGeom>
          <a:noFill/>
          <a:ln/>
        </p:spPr>
        <p:txBody>
          <a:bodyPr wrap="square" lIns="0" tIns="0" rIns="0" bIns="0" rtlCol="0" anchor="ctr"/>
          <a:lstStyle/>
          <a:p>
            <a:pPr indent="0" marL="0">
              <a:buNone/>
            </a:pPr>
            <a:r>
              <a:rPr lang="en-US" sz="1050" b="1" spc="200" kern="0" dirty="0">
                <a:solidFill>
                  <a:srgbClr val="8A929E"/>
                </a:solidFill>
                <a:latin typeface="Calibri" pitchFamily="34" charset="0"/>
                <a:ea typeface="Calibri" pitchFamily="34" charset="-122"/>
                <a:cs typeface="Calibri" pitchFamily="34" charset="-120"/>
              </a:rPr>
              <a:t>RUNNING NOW</a:t>
            </a:r>
            <a:endParaRPr lang="en-US" sz="1050" dirty="0"/>
          </a:p>
        </p:txBody>
      </p:sp>
      <p:sp>
        <p:nvSpPr>
          <p:cNvPr id="3" name="Text 1"/>
          <p:cNvSpPr/>
          <p:nvPr/>
        </p:nvSpPr>
        <p:spPr>
          <a:xfrm>
            <a:off x="594360" y="777240"/>
            <a:ext cx="10607040" cy="822960"/>
          </a:xfrm>
          <a:prstGeom prst="rect">
            <a:avLst/>
          </a:prstGeom>
          <a:noFill/>
          <a:ln/>
        </p:spPr>
        <p:txBody>
          <a:bodyPr wrap="square" lIns="0" tIns="0" rIns="0" bIns="0" rtlCol="0" anchor="ctr"/>
          <a:lstStyle/>
          <a:p>
            <a:pPr indent="0" marL="0">
              <a:buNone/>
            </a:pPr>
            <a:r>
              <a:rPr lang="en-US" sz="3400" b="1" dirty="0">
                <a:solidFill>
                  <a:srgbClr val="16203A"/>
                </a:solidFill>
                <a:latin typeface="Cambria" pitchFamily="34" charset="0"/>
                <a:ea typeface="Cambria" pitchFamily="34" charset="-122"/>
                <a:cs typeface="Cambria" pitchFamily="34" charset="-120"/>
              </a:rPr>
              <a:t>Eight cases, end to end</a:t>
            </a:r>
            <a:endParaRPr lang="en-US" sz="3400" dirty="0"/>
          </a:p>
        </p:txBody>
      </p:sp>
      <p:sp>
        <p:nvSpPr>
          <p:cNvPr id="4" name="Shape 2"/>
          <p:cNvSpPr/>
          <p:nvPr/>
        </p:nvSpPr>
        <p:spPr>
          <a:xfrm>
            <a:off x="594360" y="1783080"/>
            <a:ext cx="7863840" cy="457200"/>
          </a:xfrm>
          <a:prstGeom prst="rect">
            <a:avLst/>
          </a:prstGeom>
          <a:solidFill>
            <a:srgbClr val="EFF1F4"/>
          </a:solidFill>
          <a:ln/>
        </p:spPr>
      </p:sp>
      <p:sp>
        <p:nvSpPr>
          <p:cNvPr id="5" name="Text 3"/>
          <p:cNvSpPr/>
          <p:nvPr/>
        </p:nvSpPr>
        <p:spPr>
          <a:xfrm>
            <a:off x="777240" y="1783080"/>
            <a:ext cx="3657600" cy="457200"/>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“my husband died, what are we owed?”</a:t>
            </a:r>
            <a:endParaRPr lang="en-US" sz="1150" dirty="0"/>
          </a:p>
        </p:txBody>
      </p:sp>
      <p:sp>
        <p:nvSpPr>
          <p:cNvPr id="6" name="Text 4"/>
          <p:cNvSpPr/>
          <p:nvPr/>
        </p:nvSpPr>
        <p:spPr>
          <a:xfrm>
            <a:off x="4480560" y="1783080"/>
            <a:ext cx="3794760" cy="457200"/>
          </a:xfrm>
          <a:prstGeom prst="rect">
            <a:avLst/>
          </a:prstGeom>
          <a:noFill/>
          <a:ln/>
        </p:spPr>
        <p:txBody>
          <a:bodyPr wrap="square" lIns="0" tIns="0" rIns="0" bIns="0" rtlCol="0" anchor="ctr"/>
          <a:lstStyle/>
          <a:p>
            <a:pPr indent="0" marL="0">
              <a:buNone/>
            </a:pPr>
            <a:r>
              <a:rPr lang="en-US" sz="1100" dirty="0">
                <a:solidFill>
                  <a:srgbClr val="4A5462"/>
                </a:solidFill>
                <a:latin typeface="Calibri" pitchFamily="34" charset="0"/>
                <a:ea typeface="Calibri" pitchFamily="34" charset="-122"/>
                <a:cs typeface="Calibri" pitchFamily="34" charset="-120"/>
              </a:rPr>
              <a:t>answered from s.76</a:t>
            </a:r>
            <a:endParaRPr lang="en-US" sz="1100" dirty="0"/>
          </a:p>
        </p:txBody>
      </p:sp>
      <p:sp>
        <p:nvSpPr>
          <p:cNvPr id="7" name="Text 5"/>
          <p:cNvSpPr/>
          <p:nvPr/>
        </p:nvSpPr>
        <p:spPr>
          <a:xfrm>
            <a:off x="8577072" y="1783080"/>
            <a:ext cx="1280160" cy="457200"/>
          </a:xfrm>
          <a:prstGeom prst="rect">
            <a:avLst/>
          </a:prstGeom>
          <a:noFill/>
          <a:ln/>
        </p:spPr>
        <p:txBody>
          <a:bodyPr wrap="square" lIns="0" tIns="0" rIns="0" bIns="0" rtlCol="0" anchor="ctr"/>
          <a:lstStyle/>
          <a:p>
            <a:pPr indent="0" marL="0">
              <a:buNone/>
            </a:pPr>
            <a:r>
              <a:rPr lang="en-US" sz="950" b="1" dirty="0">
                <a:solidFill>
                  <a:srgbClr val="1A6349"/>
                </a:solidFill>
                <a:latin typeface="Calibri" pitchFamily="34" charset="0"/>
                <a:ea typeface="Calibri" pitchFamily="34" charset="-122"/>
                <a:cs typeface="Calibri" pitchFamily="34" charset="-120"/>
              </a:rPr>
              <a:t>PASS</a:t>
            </a:r>
            <a:endParaRPr lang="en-US" sz="950" dirty="0"/>
          </a:p>
        </p:txBody>
      </p:sp>
      <p:sp>
        <p:nvSpPr>
          <p:cNvPr id="8" name="Shape 6"/>
          <p:cNvSpPr/>
          <p:nvPr/>
        </p:nvSpPr>
        <p:spPr>
          <a:xfrm>
            <a:off x="594360" y="2286000"/>
            <a:ext cx="7863840" cy="457200"/>
          </a:xfrm>
          <a:prstGeom prst="rect">
            <a:avLst/>
          </a:prstGeom>
          <a:solidFill>
            <a:srgbClr val="FFFFFF"/>
          </a:solidFill>
          <a:ln/>
        </p:spPr>
      </p:sp>
      <p:sp>
        <p:nvSpPr>
          <p:cNvPr id="9" name="Text 7"/>
          <p:cNvSpPr/>
          <p:nvPr/>
        </p:nvSpPr>
        <p:spPr>
          <a:xfrm>
            <a:off x="777240" y="2286000"/>
            <a:ext cx="3657600" cy="457200"/>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“how much money will we get exactly?”</a:t>
            </a:r>
            <a:endParaRPr lang="en-US" sz="1150" dirty="0"/>
          </a:p>
        </p:txBody>
      </p:sp>
      <p:sp>
        <p:nvSpPr>
          <p:cNvPr id="10" name="Text 8"/>
          <p:cNvSpPr/>
          <p:nvPr/>
        </p:nvSpPr>
        <p:spPr>
          <a:xfrm>
            <a:off x="4480560" y="2286000"/>
            <a:ext cx="3794760" cy="457200"/>
          </a:xfrm>
          <a:prstGeom prst="rect">
            <a:avLst/>
          </a:prstGeom>
          <a:noFill/>
          <a:ln/>
        </p:spPr>
        <p:txBody>
          <a:bodyPr wrap="square" lIns="0" tIns="0" rIns="0" bIns="0" rtlCol="0" anchor="ctr"/>
          <a:lstStyle/>
          <a:p>
            <a:pPr indent="0" marL="0">
              <a:buNone/>
            </a:pPr>
            <a:r>
              <a:rPr lang="en-US" sz="1100" dirty="0">
                <a:solidFill>
                  <a:srgbClr val="4A5462"/>
                </a:solidFill>
                <a:latin typeface="Calibri" pitchFamily="34" charset="0"/>
                <a:ea typeface="Calibri" pitchFamily="34" charset="-122"/>
                <a:cs typeface="Calibri" pitchFamily="34" charset="-120"/>
              </a:rPr>
              <a:t>explains method, no total</a:t>
            </a:r>
            <a:endParaRPr lang="en-US" sz="1100" dirty="0"/>
          </a:p>
        </p:txBody>
      </p:sp>
      <p:sp>
        <p:nvSpPr>
          <p:cNvPr id="11" name="Text 9"/>
          <p:cNvSpPr/>
          <p:nvPr/>
        </p:nvSpPr>
        <p:spPr>
          <a:xfrm>
            <a:off x="8577072" y="2286000"/>
            <a:ext cx="1280160" cy="457200"/>
          </a:xfrm>
          <a:prstGeom prst="rect">
            <a:avLst/>
          </a:prstGeom>
          <a:noFill/>
          <a:ln/>
        </p:spPr>
        <p:txBody>
          <a:bodyPr wrap="square" lIns="0" tIns="0" rIns="0" bIns="0" rtlCol="0" anchor="ctr"/>
          <a:lstStyle/>
          <a:p>
            <a:pPr indent="0" marL="0">
              <a:buNone/>
            </a:pPr>
            <a:r>
              <a:rPr lang="en-US" sz="950" b="1" dirty="0">
                <a:solidFill>
                  <a:srgbClr val="1A6349"/>
                </a:solidFill>
                <a:latin typeface="Calibri" pitchFamily="34" charset="0"/>
                <a:ea typeface="Calibri" pitchFamily="34" charset="-122"/>
                <a:cs typeface="Calibri" pitchFamily="34" charset="-120"/>
              </a:rPr>
              <a:t>PASS</a:t>
            </a:r>
            <a:endParaRPr lang="en-US" sz="950" dirty="0"/>
          </a:p>
        </p:txBody>
      </p:sp>
      <p:sp>
        <p:nvSpPr>
          <p:cNvPr id="12" name="Shape 10"/>
          <p:cNvSpPr/>
          <p:nvPr/>
        </p:nvSpPr>
        <p:spPr>
          <a:xfrm>
            <a:off x="594360" y="2788920"/>
            <a:ext cx="7863840" cy="457200"/>
          </a:xfrm>
          <a:prstGeom prst="rect">
            <a:avLst/>
          </a:prstGeom>
          <a:solidFill>
            <a:srgbClr val="EFF1F4"/>
          </a:solidFill>
          <a:ln/>
        </p:spPr>
      </p:sp>
      <p:sp>
        <p:nvSpPr>
          <p:cNvPr id="13" name="Text 11"/>
          <p:cNvSpPr/>
          <p:nvPr/>
        </p:nvSpPr>
        <p:spPr>
          <a:xfrm>
            <a:off x="777240" y="2788920"/>
            <a:ext cx="3657600" cy="457200"/>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“the police are refusing to write the FIR”</a:t>
            </a:r>
            <a:endParaRPr lang="en-US" sz="1150" dirty="0"/>
          </a:p>
        </p:txBody>
      </p:sp>
      <p:sp>
        <p:nvSpPr>
          <p:cNvPr id="14" name="Text 12"/>
          <p:cNvSpPr/>
          <p:nvPr/>
        </p:nvSpPr>
        <p:spPr>
          <a:xfrm>
            <a:off x="4480560" y="2788920"/>
            <a:ext cx="3794760" cy="457200"/>
          </a:xfrm>
          <a:prstGeom prst="rect">
            <a:avLst/>
          </a:prstGeom>
          <a:noFill/>
          <a:ln/>
        </p:spPr>
        <p:txBody>
          <a:bodyPr wrap="square" lIns="0" tIns="0" rIns="0" bIns="0" rtlCol="0" anchor="ctr"/>
          <a:lstStyle/>
          <a:p>
            <a:pPr indent="0" marL="0">
              <a:buNone/>
            </a:pPr>
            <a:r>
              <a:rPr lang="en-US" sz="1100" dirty="0">
                <a:solidFill>
                  <a:srgbClr val="4A5462"/>
                </a:solidFill>
                <a:latin typeface="Calibri" pitchFamily="34" charset="0"/>
                <a:ea typeface="Calibri" pitchFamily="34" charset="-122"/>
                <a:cs typeface="Calibri" pitchFamily="34" charset="-120"/>
              </a:rPr>
              <a:t>s.173(4) BNSS escalation</a:t>
            </a:r>
            <a:endParaRPr lang="en-US" sz="1100" dirty="0"/>
          </a:p>
        </p:txBody>
      </p:sp>
      <p:sp>
        <p:nvSpPr>
          <p:cNvPr id="15" name="Text 13"/>
          <p:cNvSpPr/>
          <p:nvPr/>
        </p:nvSpPr>
        <p:spPr>
          <a:xfrm>
            <a:off x="8577072" y="2788920"/>
            <a:ext cx="1280160" cy="457200"/>
          </a:xfrm>
          <a:prstGeom prst="rect">
            <a:avLst/>
          </a:prstGeom>
          <a:noFill/>
          <a:ln/>
        </p:spPr>
        <p:txBody>
          <a:bodyPr wrap="square" lIns="0" tIns="0" rIns="0" bIns="0" rtlCol="0" anchor="ctr"/>
          <a:lstStyle/>
          <a:p>
            <a:pPr indent="0" marL="0">
              <a:buNone/>
            </a:pPr>
            <a:r>
              <a:rPr lang="en-US" sz="950" b="1" dirty="0">
                <a:solidFill>
                  <a:srgbClr val="1A6349"/>
                </a:solidFill>
                <a:latin typeface="Calibri" pitchFamily="34" charset="0"/>
                <a:ea typeface="Calibri" pitchFamily="34" charset="-122"/>
                <a:cs typeface="Calibri" pitchFamily="34" charset="-120"/>
              </a:rPr>
              <a:t>PASS</a:t>
            </a:r>
            <a:endParaRPr lang="en-US" sz="950" dirty="0"/>
          </a:p>
        </p:txBody>
      </p:sp>
      <p:sp>
        <p:nvSpPr>
          <p:cNvPr id="16" name="Shape 14"/>
          <p:cNvSpPr/>
          <p:nvPr/>
        </p:nvSpPr>
        <p:spPr>
          <a:xfrm>
            <a:off x="594360" y="3291840"/>
            <a:ext cx="7863840" cy="457200"/>
          </a:xfrm>
          <a:prstGeom prst="rect">
            <a:avLst/>
          </a:prstGeom>
          <a:solidFill>
            <a:srgbClr val="FFFFFF"/>
          </a:solidFill>
          <a:ln/>
        </p:spPr>
      </p:sp>
      <p:sp>
        <p:nvSpPr>
          <p:cNvPr id="17" name="Text 15"/>
          <p:cNvSpPr/>
          <p:nvPr/>
        </p:nvSpPr>
        <p:spPr>
          <a:xfrm>
            <a:off x="777240" y="3291840"/>
            <a:ext cx="3657600" cy="457200"/>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“they took his body away”</a:t>
            </a:r>
            <a:endParaRPr lang="en-US" sz="1150" dirty="0"/>
          </a:p>
        </p:txBody>
      </p:sp>
      <p:sp>
        <p:nvSpPr>
          <p:cNvPr id="18" name="Text 16"/>
          <p:cNvSpPr/>
          <p:nvPr/>
        </p:nvSpPr>
        <p:spPr>
          <a:xfrm>
            <a:off x="4480560" y="3291840"/>
            <a:ext cx="3794760" cy="457200"/>
          </a:xfrm>
          <a:prstGeom prst="rect">
            <a:avLst/>
          </a:prstGeom>
          <a:noFill/>
          <a:ln/>
        </p:spPr>
        <p:txBody>
          <a:bodyPr wrap="square" lIns="0" tIns="0" rIns="0" bIns="0" rtlCol="0" anchor="ctr"/>
          <a:lstStyle/>
          <a:p>
            <a:pPr indent="0" marL="0">
              <a:buNone/>
            </a:pPr>
            <a:r>
              <a:rPr lang="en-US" sz="1100" dirty="0">
                <a:solidFill>
                  <a:srgbClr val="4A5462"/>
                </a:solidFill>
                <a:latin typeface="Calibri" pitchFamily="34" charset="0"/>
                <a:ea typeface="Calibri" pitchFamily="34" charset="-122"/>
                <a:cs typeface="Calibri" pitchFamily="34" charset="-120"/>
              </a:rPr>
              <a:t>s.194 BNSS post-mortem</a:t>
            </a:r>
            <a:endParaRPr lang="en-US" sz="1100" dirty="0"/>
          </a:p>
        </p:txBody>
      </p:sp>
      <p:sp>
        <p:nvSpPr>
          <p:cNvPr id="19" name="Text 17"/>
          <p:cNvSpPr/>
          <p:nvPr/>
        </p:nvSpPr>
        <p:spPr>
          <a:xfrm>
            <a:off x="8577072" y="3291840"/>
            <a:ext cx="1280160" cy="457200"/>
          </a:xfrm>
          <a:prstGeom prst="rect">
            <a:avLst/>
          </a:prstGeom>
          <a:noFill/>
          <a:ln/>
        </p:spPr>
        <p:txBody>
          <a:bodyPr wrap="square" lIns="0" tIns="0" rIns="0" bIns="0" rtlCol="0" anchor="ctr"/>
          <a:lstStyle/>
          <a:p>
            <a:pPr indent="0" marL="0">
              <a:buNone/>
            </a:pPr>
            <a:r>
              <a:rPr lang="en-US" sz="950" b="1" dirty="0">
                <a:solidFill>
                  <a:srgbClr val="1A6349"/>
                </a:solidFill>
                <a:latin typeface="Calibri" pitchFamily="34" charset="0"/>
                <a:ea typeface="Calibri" pitchFamily="34" charset="-122"/>
                <a:cs typeface="Calibri" pitchFamily="34" charset="-120"/>
              </a:rPr>
              <a:t>PASS</a:t>
            </a:r>
            <a:endParaRPr lang="en-US" sz="950" dirty="0"/>
          </a:p>
        </p:txBody>
      </p:sp>
      <p:sp>
        <p:nvSpPr>
          <p:cNvPr id="20" name="Shape 18"/>
          <p:cNvSpPr/>
          <p:nvPr/>
        </p:nvSpPr>
        <p:spPr>
          <a:xfrm>
            <a:off x="594360" y="3794760"/>
            <a:ext cx="7863840" cy="457200"/>
          </a:xfrm>
          <a:prstGeom prst="rect">
            <a:avLst/>
          </a:prstGeom>
          <a:solidFill>
            <a:srgbClr val="EFF1F4"/>
          </a:solidFill>
          <a:ln/>
        </p:spPr>
      </p:sp>
      <p:sp>
        <p:nvSpPr>
          <p:cNvPr id="21" name="Text 19"/>
          <p:cNvSpPr/>
          <p:nvPr/>
        </p:nvSpPr>
        <p:spPr>
          <a:xfrm>
            <a:off x="777240" y="3794760"/>
            <a:ext cx="3657600" cy="457200"/>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“the owner is offering 2 lakh to sign”</a:t>
            </a:r>
            <a:endParaRPr lang="en-US" sz="1150" dirty="0"/>
          </a:p>
        </p:txBody>
      </p:sp>
      <p:sp>
        <p:nvSpPr>
          <p:cNvPr id="22" name="Text 20"/>
          <p:cNvSpPr/>
          <p:nvPr/>
        </p:nvSpPr>
        <p:spPr>
          <a:xfrm>
            <a:off x="4480560" y="3794760"/>
            <a:ext cx="3794760" cy="457200"/>
          </a:xfrm>
          <a:prstGeom prst="rect">
            <a:avLst/>
          </a:prstGeom>
          <a:noFill/>
          <a:ln/>
        </p:spPr>
        <p:txBody>
          <a:bodyPr wrap="square" lIns="0" tIns="0" rIns="0" bIns="0" rtlCol="0" anchor="ctr"/>
          <a:lstStyle/>
          <a:p>
            <a:pPr indent="0" marL="0">
              <a:buNone/>
            </a:pPr>
            <a:r>
              <a:rPr lang="en-US" sz="1100" dirty="0">
                <a:solidFill>
                  <a:srgbClr val="4A5462"/>
                </a:solidFill>
                <a:latin typeface="Calibri" pitchFamily="34" charset="0"/>
                <a:ea typeface="Calibri" pitchFamily="34" charset="-122"/>
                <a:cs typeface="Calibri" pitchFamily="34" charset="-120"/>
              </a:rPr>
              <a:t>pre-approved text, no model call</a:t>
            </a:r>
            <a:endParaRPr lang="en-US" sz="1100" dirty="0"/>
          </a:p>
        </p:txBody>
      </p:sp>
      <p:sp>
        <p:nvSpPr>
          <p:cNvPr id="23" name="Text 21"/>
          <p:cNvSpPr/>
          <p:nvPr/>
        </p:nvSpPr>
        <p:spPr>
          <a:xfrm>
            <a:off x="8577072" y="3794760"/>
            <a:ext cx="1280160" cy="457200"/>
          </a:xfrm>
          <a:prstGeom prst="rect">
            <a:avLst/>
          </a:prstGeom>
          <a:noFill/>
          <a:ln/>
        </p:spPr>
        <p:txBody>
          <a:bodyPr wrap="square" lIns="0" tIns="0" rIns="0" bIns="0" rtlCol="0" anchor="ctr"/>
          <a:lstStyle/>
          <a:p>
            <a:pPr indent="0" marL="0">
              <a:buNone/>
            </a:pPr>
            <a:r>
              <a:rPr lang="en-US" sz="950" b="1" dirty="0">
                <a:solidFill>
                  <a:srgbClr val="16203A"/>
                </a:solidFill>
                <a:latin typeface="Calibri" pitchFamily="34" charset="0"/>
                <a:ea typeface="Calibri" pitchFamily="34" charset="-122"/>
                <a:cs typeface="Calibri" pitchFamily="34" charset="-120"/>
              </a:rPr>
              <a:t>PRE-EMPTED</a:t>
            </a:r>
            <a:endParaRPr lang="en-US" sz="950" dirty="0"/>
          </a:p>
        </p:txBody>
      </p:sp>
      <p:sp>
        <p:nvSpPr>
          <p:cNvPr id="24" name="Shape 22"/>
          <p:cNvSpPr/>
          <p:nvPr/>
        </p:nvSpPr>
        <p:spPr>
          <a:xfrm>
            <a:off x="594360" y="4297680"/>
            <a:ext cx="7863840" cy="457200"/>
          </a:xfrm>
          <a:prstGeom prst="rect">
            <a:avLst/>
          </a:prstGeom>
          <a:solidFill>
            <a:srgbClr val="FFFFFF"/>
          </a:solidFill>
          <a:ln/>
        </p:spPr>
      </p:sp>
      <p:sp>
        <p:nvSpPr>
          <p:cNvPr id="25" name="Text 23"/>
          <p:cNvSpPr/>
          <p:nvPr/>
        </p:nvSpPr>
        <p:spPr>
          <a:xfrm>
            <a:off x="777240" y="4297680"/>
            <a:ext cx="3657600" cy="457200"/>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“he worked through a thekedar”</a:t>
            </a:r>
            <a:endParaRPr lang="en-US" sz="1150" dirty="0"/>
          </a:p>
        </p:txBody>
      </p:sp>
      <p:sp>
        <p:nvSpPr>
          <p:cNvPr id="26" name="Text 24"/>
          <p:cNvSpPr/>
          <p:nvPr/>
        </p:nvSpPr>
        <p:spPr>
          <a:xfrm>
            <a:off x="4480560" y="4297680"/>
            <a:ext cx="3794760" cy="457200"/>
          </a:xfrm>
          <a:prstGeom prst="rect">
            <a:avLst/>
          </a:prstGeom>
          <a:noFill/>
          <a:ln/>
        </p:spPr>
        <p:txBody>
          <a:bodyPr wrap="square" lIns="0" tIns="0" rIns="0" bIns="0" rtlCol="0" anchor="ctr"/>
          <a:lstStyle/>
          <a:p>
            <a:pPr indent="0" marL="0">
              <a:buNone/>
            </a:pPr>
            <a:r>
              <a:rPr lang="en-US" sz="1100" dirty="0">
                <a:solidFill>
                  <a:srgbClr val="4A5462"/>
                </a:solidFill>
                <a:latin typeface="Calibri" pitchFamily="34" charset="0"/>
                <a:ea typeface="Calibri" pitchFamily="34" charset="-122"/>
                <a:cs typeface="Calibri" pitchFamily="34" charset="-120"/>
              </a:rPr>
              <a:t>s.85 principal-employer liability</a:t>
            </a:r>
            <a:endParaRPr lang="en-US" sz="1100" dirty="0"/>
          </a:p>
        </p:txBody>
      </p:sp>
      <p:sp>
        <p:nvSpPr>
          <p:cNvPr id="27" name="Text 25"/>
          <p:cNvSpPr/>
          <p:nvPr/>
        </p:nvSpPr>
        <p:spPr>
          <a:xfrm>
            <a:off x="8577072" y="4297680"/>
            <a:ext cx="1280160" cy="457200"/>
          </a:xfrm>
          <a:prstGeom prst="rect">
            <a:avLst/>
          </a:prstGeom>
          <a:noFill/>
          <a:ln/>
        </p:spPr>
        <p:txBody>
          <a:bodyPr wrap="square" lIns="0" tIns="0" rIns="0" bIns="0" rtlCol="0" anchor="ctr"/>
          <a:lstStyle/>
          <a:p>
            <a:pPr indent="0" marL="0">
              <a:buNone/>
            </a:pPr>
            <a:r>
              <a:rPr lang="en-US" sz="950" b="1" dirty="0">
                <a:solidFill>
                  <a:srgbClr val="1A6349"/>
                </a:solidFill>
                <a:latin typeface="Calibri" pitchFamily="34" charset="0"/>
                <a:ea typeface="Calibri" pitchFamily="34" charset="-122"/>
                <a:cs typeface="Calibri" pitchFamily="34" charset="-120"/>
              </a:rPr>
              <a:t>PASS</a:t>
            </a:r>
            <a:endParaRPr lang="en-US" sz="950" dirty="0"/>
          </a:p>
        </p:txBody>
      </p:sp>
      <p:sp>
        <p:nvSpPr>
          <p:cNvPr id="28" name="Shape 26"/>
          <p:cNvSpPr/>
          <p:nvPr/>
        </p:nvSpPr>
        <p:spPr>
          <a:xfrm>
            <a:off x="594360" y="4800600"/>
            <a:ext cx="7863840" cy="457200"/>
          </a:xfrm>
          <a:prstGeom prst="rect">
            <a:avLst/>
          </a:prstGeom>
          <a:solidFill>
            <a:srgbClr val="EFF1F4"/>
          </a:solidFill>
          <a:ln/>
        </p:spPr>
      </p:sp>
      <p:sp>
        <p:nvSpPr>
          <p:cNvPr id="29" name="Text 27"/>
          <p:cNvSpPr/>
          <p:nvPr/>
        </p:nvSpPr>
        <p:spPr>
          <a:xfrm>
            <a:off x="777240" y="4800600"/>
            <a:ext cx="3657600" cy="457200"/>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“what is the weather in Ludhiana”</a:t>
            </a:r>
            <a:endParaRPr lang="en-US" sz="1150" dirty="0"/>
          </a:p>
        </p:txBody>
      </p:sp>
      <p:sp>
        <p:nvSpPr>
          <p:cNvPr id="30" name="Text 28"/>
          <p:cNvSpPr/>
          <p:nvPr/>
        </p:nvSpPr>
        <p:spPr>
          <a:xfrm>
            <a:off x="4480560" y="4800600"/>
            <a:ext cx="3794760" cy="457200"/>
          </a:xfrm>
          <a:prstGeom prst="rect">
            <a:avLst/>
          </a:prstGeom>
          <a:noFill/>
          <a:ln/>
        </p:spPr>
        <p:txBody>
          <a:bodyPr wrap="square" lIns="0" tIns="0" rIns="0" bIns="0" rtlCol="0" anchor="ctr"/>
          <a:lstStyle/>
          <a:p>
            <a:pPr indent="0" marL="0">
              <a:buNone/>
            </a:pPr>
            <a:r>
              <a:rPr lang="en-US" sz="1100" dirty="0">
                <a:solidFill>
                  <a:srgbClr val="4A5462"/>
                </a:solidFill>
                <a:latin typeface="Calibri" pitchFamily="34" charset="0"/>
                <a:ea typeface="Calibri" pitchFamily="34" charset="-122"/>
                <a:cs typeface="Calibri" pitchFamily="34" charset="-120"/>
              </a:rPr>
              <a:t>never reaches retrieval or the model</a:t>
            </a:r>
            <a:endParaRPr lang="en-US" sz="1100" dirty="0"/>
          </a:p>
        </p:txBody>
      </p:sp>
      <p:sp>
        <p:nvSpPr>
          <p:cNvPr id="31" name="Text 29"/>
          <p:cNvSpPr/>
          <p:nvPr/>
        </p:nvSpPr>
        <p:spPr>
          <a:xfrm>
            <a:off x="8577072" y="4800600"/>
            <a:ext cx="1280160" cy="457200"/>
          </a:xfrm>
          <a:prstGeom prst="rect">
            <a:avLst/>
          </a:prstGeom>
          <a:noFill/>
          <a:ln/>
        </p:spPr>
        <p:txBody>
          <a:bodyPr wrap="square" lIns="0" tIns="0" rIns="0" bIns="0" rtlCol="0" anchor="ctr"/>
          <a:lstStyle/>
          <a:p>
            <a:pPr indent="0" marL="0">
              <a:buNone/>
            </a:pPr>
            <a:r>
              <a:rPr lang="en-US" sz="950" b="1" dirty="0">
                <a:solidFill>
                  <a:srgbClr val="16203A"/>
                </a:solidFill>
                <a:latin typeface="Calibri" pitchFamily="34" charset="0"/>
                <a:ea typeface="Calibri" pitchFamily="34" charset="-122"/>
                <a:cs typeface="Calibri" pitchFamily="34" charset="-120"/>
              </a:rPr>
              <a:t>OUT OF SCOPE</a:t>
            </a:r>
            <a:endParaRPr lang="en-US" sz="950" dirty="0"/>
          </a:p>
        </p:txBody>
      </p:sp>
      <p:sp>
        <p:nvSpPr>
          <p:cNvPr id="32" name="Shape 30"/>
          <p:cNvSpPr/>
          <p:nvPr/>
        </p:nvSpPr>
        <p:spPr>
          <a:xfrm>
            <a:off x="594360" y="5303520"/>
            <a:ext cx="7863840" cy="457200"/>
          </a:xfrm>
          <a:prstGeom prst="rect">
            <a:avLst/>
          </a:prstGeom>
          <a:solidFill>
            <a:srgbClr val="FFFFFF"/>
          </a:solidFill>
          <a:ln/>
        </p:spPr>
      </p:sp>
      <p:sp>
        <p:nvSpPr>
          <p:cNvPr id="33" name="Text 31"/>
          <p:cNvSpPr/>
          <p:nvPr/>
        </p:nvSpPr>
        <p:spPr>
          <a:xfrm>
            <a:off x="777240" y="5303520"/>
            <a:ext cx="3657600" cy="457200"/>
          </a:xfrm>
          <a:prstGeom prst="rect">
            <a:avLst/>
          </a:prstGeom>
          <a:noFill/>
          <a:ln/>
        </p:spPr>
        <p:txBody>
          <a:bodyPr wrap="square" lIns="0" tIns="0" rIns="0" bIns="0" rtlCol="0" anchor="ctr"/>
          <a:lstStyle/>
          <a:p>
            <a:pPr indent="0" marL="0">
              <a:buNone/>
            </a:pPr>
            <a:r>
              <a:rPr lang="en-US" sz="1150" dirty="0">
                <a:solidFill>
                  <a:srgbClr val="16203A"/>
                </a:solidFill>
                <a:latin typeface="Calibri" pitchFamily="34" charset="0"/>
                <a:ea typeface="Calibri" pitchFamily="34" charset="-122"/>
                <a:cs typeface="Calibri" pitchFamily="34" charset="-120"/>
              </a:rPr>
              <a:t>“what does the Factories Act say”</a:t>
            </a:r>
            <a:endParaRPr lang="en-US" sz="1150" dirty="0"/>
          </a:p>
        </p:txBody>
      </p:sp>
      <p:sp>
        <p:nvSpPr>
          <p:cNvPr id="34" name="Text 32"/>
          <p:cNvSpPr/>
          <p:nvPr/>
        </p:nvSpPr>
        <p:spPr>
          <a:xfrm>
            <a:off x="4480560" y="5303520"/>
            <a:ext cx="3794760" cy="457200"/>
          </a:xfrm>
          <a:prstGeom prst="rect">
            <a:avLst/>
          </a:prstGeom>
          <a:noFill/>
          <a:ln/>
        </p:spPr>
        <p:txBody>
          <a:bodyPr wrap="square" lIns="0" tIns="0" rIns="0" bIns="0" rtlCol="0" anchor="ctr"/>
          <a:lstStyle/>
          <a:p>
            <a:pPr indent="0" marL="0">
              <a:buNone/>
            </a:pPr>
            <a:r>
              <a:rPr lang="en-US" sz="1100" dirty="0">
                <a:solidFill>
                  <a:srgbClr val="4A5462"/>
                </a:solidFill>
                <a:latin typeface="Calibri" pitchFamily="34" charset="0"/>
                <a:ea typeface="Calibri" pitchFamily="34" charset="-122"/>
                <a:cs typeface="Calibri" pitchFamily="34" charset="-120"/>
              </a:rPr>
              <a:t>repealed chunk dropped, answered from OSHWC</a:t>
            </a:r>
            <a:endParaRPr lang="en-US" sz="1100" dirty="0"/>
          </a:p>
        </p:txBody>
      </p:sp>
      <p:sp>
        <p:nvSpPr>
          <p:cNvPr id="35" name="Text 33"/>
          <p:cNvSpPr/>
          <p:nvPr/>
        </p:nvSpPr>
        <p:spPr>
          <a:xfrm>
            <a:off x="8577072" y="5303520"/>
            <a:ext cx="1280160" cy="457200"/>
          </a:xfrm>
          <a:prstGeom prst="rect">
            <a:avLst/>
          </a:prstGeom>
          <a:noFill/>
          <a:ln/>
        </p:spPr>
        <p:txBody>
          <a:bodyPr wrap="square" lIns="0" tIns="0" rIns="0" bIns="0" rtlCol="0" anchor="ctr"/>
          <a:lstStyle/>
          <a:p>
            <a:pPr indent="0" marL="0">
              <a:buNone/>
            </a:pPr>
            <a:r>
              <a:rPr lang="en-US" sz="950" b="1" dirty="0">
                <a:solidFill>
                  <a:srgbClr val="1A6349"/>
                </a:solidFill>
                <a:latin typeface="Calibri" pitchFamily="34" charset="0"/>
                <a:ea typeface="Calibri" pitchFamily="34" charset="-122"/>
                <a:cs typeface="Calibri" pitchFamily="34" charset="-120"/>
              </a:rPr>
              <a:t>PASS</a:t>
            </a:r>
            <a:endParaRPr lang="en-US" sz="950" dirty="0"/>
          </a:p>
        </p:txBody>
      </p:sp>
      <p:sp>
        <p:nvSpPr>
          <p:cNvPr id="36" name="Text 34"/>
          <p:cNvSpPr/>
          <p:nvPr/>
        </p:nvSpPr>
        <p:spPr>
          <a:xfrm>
            <a:off x="10012680" y="1783080"/>
            <a:ext cx="1645920" cy="457200"/>
          </a:xfrm>
          <a:prstGeom prst="rect">
            <a:avLst/>
          </a:prstGeom>
          <a:noFill/>
          <a:ln/>
        </p:spPr>
        <p:txBody>
          <a:bodyPr wrap="square" lIns="0" tIns="0" rIns="0" bIns="0" rtlCol="0" anchor="ctr"/>
          <a:lstStyle/>
          <a:p>
            <a:pPr indent="0" marL="0">
              <a:buNone/>
            </a:pPr>
            <a:r>
              <a:rPr lang="en-US" sz="2400" b="1" dirty="0">
                <a:solidFill>
                  <a:srgbClr val="16203A"/>
                </a:solidFill>
                <a:latin typeface="Cambria" pitchFamily="34" charset="0"/>
                <a:ea typeface="Cambria" pitchFamily="34" charset="-122"/>
                <a:cs typeface="Cambria" pitchFamily="34" charset="-120"/>
              </a:rPr>
              <a:t>8 / 8</a:t>
            </a:r>
            <a:endParaRPr lang="en-US" sz="2400" dirty="0"/>
          </a:p>
        </p:txBody>
      </p:sp>
      <p:sp>
        <p:nvSpPr>
          <p:cNvPr id="37" name="Text 35"/>
          <p:cNvSpPr/>
          <p:nvPr/>
        </p:nvSpPr>
        <p:spPr>
          <a:xfrm>
            <a:off x="10012680" y="2203704"/>
            <a:ext cx="1691640" cy="502920"/>
          </a:xfrm>
          <a:prstGeom prst="rect">
            <a:avLst/>
          </a:prstGeom>
          <a:noFill/>
          <a:ln/>
        </p:spPr>
        <p:txBody>
          <a:bodyPr wrap="square" lIns="0" tIns="0" rIns="0" bIns="0" rtlCol="0" anchor="ctr"/>
          <a:lstStyle/>
          <a:p>
            <a:pPr indent="0" marL="0">
              <a:lnSpc>
                <a:spcPts val="1300"/>
              </a:lnSpc>
              <a:buNone/>
            </a:pPr>
            <a:r>
              <a:rPr lang="en-US" sz="1000" dirty="0">
                <a:solidFill>
                  <a:srgbClr val="4A5462"/>
                </a:solidFill>
                <a:latin typeface="Calibri" pitchFamily="34" charset="0"/>
                <a:ea typeface="Calibri" pitchFamily="34" charset="-122"/>
                <a:cs typeface="Calibri" pitchFamily="34" charset="-120"/>
              </a:rPr>
              <a:t>cases behave as specified</a:t>
            </a:r>
            <a:endParaRPr lang="en-US" sz="1000" dirty="0"/>
          </a:p>
        </p:txBody>
      </p:sp>
      <p:sp>
        <p:nvSpPr>
          <p:cNvPr id="38" name="Text 36"/>
          <p:cNvSpPr/>
          <p:nvPr/>
        </p:nvSpPr>
        <p:spPr>
          <a:xfrm>
            <a:off x="10012680" y="2788920"/>
            <a:ext cx="1645920" cy="457200"/>
          </a:xfrm>
          <a:prstGeom prst="rect">
            <a:avLst/>
          </a:prstGeom>
          <a:noFill/>
          <a:ln/>
        </p:spPr>
        <p:txBody>
          <a:bodyPr wrap="square" lIns="0" tIns="0" rIns="0" bIns="0" rtlCol="0" anchor="ctr"/>
          <a:lstStyle/>
          <a:p>
            <a:pPr indent="0" marL="0">
              <a:buNone/>
            </a:pPr>
            <a:r>
              <a:rPr lang="en-US" sz="2400" b="1" dirty="0">
                <a:solidFill>
                  <a:srgbClr val="16203A"/>
                </a:solidFill>
                <a:latin typeface="Cambria" pitchFamily="34" charset="0"/>
                <a:ea typeface="Cambria" pitchFamily="34" charset="-122"/>
                <a:cs typeface="Cambria" pitchFamily="34" charset="-120"/>
              </a:rPr>
              <a:t>22 / 22</a:t>
            </a:r>
            <a:endParaRPr lang="en-US" sz="2400" dirty="0"/>
          </a:p>
        </p:txBody>
      </p:sp>
      <p:sp>
        <p:nvSpPr>
          <p:cNvPr id="39" name="Text 37"/>
          <p:cNvSpPr/>
          <p:nvPr/>
        </p:nvSpPr>
        <p:spPr>
          <a:xfrm>
            <a:off x="10012680" y="3209544"/>
            <a:ext cx="1691640" cy="502920"/>
          </a:xfrm>
          <a:prstGeom prst="rect">
            <a:avLst/>
          </a:prstGeom>
          <a:noFill/>
          <a:ln/>
        </p:spPr>
        <p:txBody>
          <a:bodyPr wrap="square" lIns="0" tIns="0" rIns="0" bIns="0" rtlCol="0" anchor="ctr"/>
          <a:lstStyle/>
          <a:p>
            <a:pPr indent="0" marL="0">
              <a:lnSpc>
                <a:spcPts val="1300"/>
              </a:lnSpc>
              <a:buNone/>
            </a:pPr>
            <a:r>
              <a:rPr lang="en-US" sz="1000" dirty="0">
                <a:solidFill>
                  <a:srgbClr val="4A5462"/>
                </a:solidFill>
                <a:latin typeface="Calibri" pitchFamily="34" charset="0"/>
                <a:ea typeface="Calibri" pitchFamily="34" charset="-122"/>
                <a:cs typeface="Calibri" pitchFamily="34" charset="-120"/>
              </a:rPr>
              <a:t>intent routing, zero misroutes</a:t>
            </a:r>
            <a:endParaRPr lang="en-US" sz="1000" dirty="0"/>
          </a:p>
        </p:txBody>
      </p:sp>
      <p:sp>
        <p:nvSpPr>
          <p:cNvPr id="40" name="Text 38"/>
          <p:cNvSpPr/>
          <p:nvPr/>
        </p:nvSpPr>
        <p:spPr>
          <a:xfrm>
            <a:off x="10012680" y="3794760"/>
            <a:ext cx="1645920" cy="457200"/>
          </a:xfrm>
          <a:prstGeom prst="rect">
            <a:avLst/>
          </a:prstGeom>
          <a:noFill/>
          <a:ln/>
        </p:spPr>
        <p:txBody>
          <a:bodyPr wrap="square" lIns="0" tIns="0" rIns="0" bIns="0" rtlCol="0" anchor="ctr"/>
          <a:lstStyle/>
          <a:p>
            <a:pPr indent="0" marL="0">
              <a:buNone/>
            </a:pPr>
            <a:r>
              <a:rPr lang="en-US" sz="2400" b="1" dirty="0">
                <a:solidFill>
                  <a:srgbClr val="16203A"/>
                </a:solidFill>
                <a:latin typeface="Cambria" pitchFamily="34" charset="0"/>
                <a:ea typeface="Cambria" pitchFamily="34" charset="-122"/>
                <a:cs typeface="Cambria" pitchFamily="34" charset="-120"/>
              </a:rPr>
              <a:t>0</a:t>
            </a:r>
            <a:endParaRPr lang="en-US" sz="2400" dirty="0"/>
          </a:p>
        </p:txBody>
      </p:sp>
      <p:sp>
        <p:nvSpPr>
          <p:cNvPr id="41" name="Text 39"/>
          <p:cNvSpPr/>
          <p:nvPr/>
        </p:nvSpPr>
        <p:spPr>
          <a:xfrm>
            <a:off x="10012680" y="4215384"/>
            <a:ext cx="1691640" cy="502920"/>
          </a:xfrm>
          <a:prstGeom prst="rect">
            <a:avLst/>
          </a:prstGeom>
          <a:noFill/>
          <a:ln/>
        </p:spPr>
        <p:txBody>
          <a:bodyPr wrap="square" lIns="0" tIns="0" rIns="0" bIns="0" rtlCol="0" anchor="ctr"/>
          <a:lstStyle/>
          <a:p>
            <a:pPr indent="0" marL="0">
              <a:lnSpc>
                <a:spcPts val="1300"/>
              </a:lnSpc>
              <a:buNone/>
            </a:pPr>
            <a:r>
              <a:rPr lang="en-US" sz="1000" dirty="0">
                <a:solidFill>
                  <a:srgbClr val="4A5462"/>
                </a:solidFill>
                <a:latin typeface="Calibri" pitchFamily="34" charset="0"/>
                <a:ea typeface="Calibri" pitchFamily="34" charset="-122"/>
                <a:cs typeface="Calibri" pitchFamily="34" charset="-120"/>
              </a:rPr>
              <a:t>fabricated contacts</a:t>
            </a:r>
            <a:endParaRPr lang="en-US" sz="1000" dirty="0"/>
          </a:p>
        </p:txBody>
      </p:sp>
      <p:sp>
        <p:nvSpPr>
          <p:cNvPr id="42" name="Text 40"/>
          <p:cNvSpPr/>
          <p:nvPr/>
        </p:nvSpPr>
        <p:spPr>
          <a:xfrm>
            <a:off x="10012680" y="4800600"/>
            <a:ext cx="1645920" cy="457200"/>
          </a:xfrm>
          <a:prstGeom prst="rect">
            <a:avLst/>
          </a:prstGeom>
          <a:noFill/>
          <a:ln/>
        </p:spPr>
        <p:txBody>
          <a:bodyPr wrap="square" lIns="0" tIns="0" rIns="0" bIns="0" rtlCol="0" anchor="ctr"/>
          <a:lstStyle/>
          <a:p>
            <a:pPr indent="0" marL="0">
              <a:buNone/>
            </a:pPr>
            <a:r>
              <a:rPr lang="en-US" sz="2400" b="1" dirty="0">
                <a:solidFill>
                  <a:srgbClr val="16203A"/>
                </a:solidFill>
                <a:latin typeface="Cambria" pitchFamily="34" charset="0"/>
                <a:ea typeface="Cambria" pitchFamily="34" charset="-122"/>
                <a:cs typeface="Cambria" pitchFamily="34" charset="-120"/>
              </a:rPr>
              <a:t>87–144</a:t>
            </a:r>
            <a:endParaRPr lang="en-US" sz="2400" dirty="0"/>
          </a:p>
        </p:txBody>
      </p:sp>
      <p:sp>
        <p:nvSpPr>
          <p:cNvPr id="43" name="Text 41"/>
          <p:cNvSpPr/>
          <p:nvPr/>
        </p:nvSpPr>
        <p:spPr>
          <a:xfrm>
            <a:off x="10012680" y="5221224"/>
            <a:ext cx="1691640" cy="502920"/>
          </a:xfrm>
          <a:prstGeom prst="rect">
            <a:avLst/>
          </a:prstGeom>
          <a:noFill/>
          <a:ln/>
        </p:spPr>
        <p:txBody>
          <a:bodyPr wrap="square" lIns="0" tIns="0" rIns="0" bIns="0" rtlCol="0" anchor="ctr"/>
          <a:lstStyle/>
          <a:p>
            <a:pPr indent="0" marL="0">
              <a:lnSpc>
                <a:spcPts val="1300"/>
              </a:lnSpc>
              <a:buNone/>
            </a:pPr>
            <a:r>
              <a:rPr lang="en-US" sz="1000" dirty="0">
                <a:solidFill>
                  <a:srgbClr val="4A5462"/>
                </a:solidFill>
                <a:latin typeface="Calibri" pitchFamily="34" charset="0"/>
                <a:ea typeface="Calibri" pitchFamily="34" charset="-122"/>
                <a:cs typeface="Calibri" pitchFamily="34" charset="-120"/>
              </a:rPr>
              <a:t>words per answer, from 165–268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594360" y="457200"/>
            <a:ext cx="5486400" cy="228600"/>
          </a:xfrm>
          <a:prstGeom prst="rect">
            <a:avLst/>
          </a:prstGeom>
          <a:noFill/>
          <a:ln/>
        </p:spPr>
        <p:txBody>
          <a:bodyPr wrap="square" lIns="0" tIns="0" rIns="0" bIns="0" rtlCol="0" anchor="ctr"/>
          <a:lstStyle/>
          <a:p>
            <a:pPr indent="0" marL="0">
              <a:buNone/>
            </a:pPr>
            <a:r>
              <a:rPr lang="en-US" sz="1050" b="1" spc="200" kern="0" dirty="0">
                <a:solidFill>
                  <a:srgbClr val="8A929E"/>
                </a:solidFill>
                <a:latin typeface="Calibri" pitchFamily="34" charset="0"/>
                <a:ea typeface="Calibri" pitchFamily="34" charset="-122"/>
                <a:cs typeface="Calibri" pitchFamily="34" charset="-120"/>
              </a:rPr>
              <a:t>DELIBERATELY SWITCHED OFF</a:t>
            </a:r>
            <a:endParaRPr lang="en-US" sz="1050" dirty="0"/>
          </a:p>
        </p:txBody>
      </p:sp>
      <p:sp>
        <p:nvSpPr>
          <p:cNvPr id="3" name="Text 1"/>
          <p:cNvSpPr/>
          <p:nvPr/>
        </p:nvSpPr>
        <p:spPr>
          <a:xfrm>
            <a:off x="594360" y="777240"/>
            <a:ext cx="10607040" cy="822960"/>
          </a:xfrm>
          <a:prstGeom prst="rect">
            <a:avLst/>
          </a:prstGeom>
          <a:noFill/>
          <a:ln/>
        </p:spPr>
        <p:txBody>
          <a:bodyPr wrap="square" lIns="0" tIns="0" rIns="0" bIns="0" rtlCol="0" anchor="ctr"/>
          <a:lstStyle/>
          <a:p>
            <a:pPr indent="0" marL="0">
              <a:buNone/>
            </a:pPr>
            <a:r>
              <a:rPr lang="en-US" sz="3400" b="1" dirty="0">
                <a:solidFill>
                  <a:srgbClr val="16203A"/>
                </a:solidFill>
                <a:latin typeface="Cambria" pitchFamily="34" charset="0"/>
                <a:ea typeface="Cambria" pitchFamily="34" charset="-122"/>
                <a:cs typeface="Cambria" pitchFamily="34" charset="-120"/>
              </a:rPr>
              <a:t>What it refuses to do, and why</a:t>
            </a:r>
            <a:endParaRPr lang="en-US" sz="3400" dirty="0"/>
          </a:p>
        </p:txBody>
      </p:sp>
      <p:sp>
        <p:nvSpPr>
          <p:cNvPr id="4" name="Shape 2"/>
          <p:cNvSpPr/>
          <p:nvPr/>
        </p:nvSpPr>
        <p:spPr>
          <a:xfrm>
            <a:off x="594360" y="1783080"/>
            <a:ext cx="10972800" cy="1234440"/>
          </a:xfrm>
          <a:prstGeom prst="rect">
            <a:avLst/>
          </a:prstGeom>
          <a:solidFill>
            <a:srgbClr val="FFFFFF"/>
          </a:solidFill>
          <a:ln w="12700">
            <a:solidFill>
              <a:srgbClr val="D8DCE3"/>
            </a:solidFill>
            <a:prstDash val="solid"/>
          </a:ln>
        </p:spPr>
      </p:sp>
      <p:sp>
        <p:nvSpPr>
          <p:cNvPr id="5" name="Shape 3"/>
          <p:cNvSpPr/>
          <p:nvPr/>
        </p:nvSpPr>
        <p:spPr>
          <a:xfrm>
            <a:off x="868680" y="2194560"/>
            <a:ext cx="365760" cy="365760"/>
          </a:xfrm>
          <a:prstGeom prst="ellipse">
            <a:avLst/>
          </a:prstGeom>
          <a:solidFill>
            <a:srgbClr val="16203A"/>
          </a:solidFill>
          <a:ln/>
        </p:spPr>
      </p:sp>
      <p:sp>
        <p:nvSpPr>
          <p:cNvPr id="6" name="Text 4"/>
          <p:cNvSpPr/>
          <p:nvPr/>
        </p:nvSpPr>
        <p:spPr>
          <a:xfrm>
            <a:off x="868680" y="21945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463040" y="1947672"/>
            <a:ext cx="9966960" cy="320040"/>
          </a:xfrm>
          <a:prstGeom prst="rect">
            <a:avLst/>
          </a:prstGeom>
          <a:noFill/>
          <a:ln/>
        </p:spPr>
        <p:txBody>
          <a:bodyPr wrap="square" lIns="0" tIns="0" rIns="0" bIns="0" rtlCol="0" anchor="ctr"/>
          <a:lstStyle/>
          <a:p>
            <a:pPr indent="0" marL="0">
              <a:buNone/>
            </a:pPr>
            <a:r>
              <a:rPr lang="en-US" sz="1600" b="1" dirty="0">
                <a:solidFill>
                  <a:srgbClr val="16203A"/>
                </a:solidFill>
                <a:latin typeface="Cambria" pitchFamily="34" charset="0"/>
                <a:ea typeface="Cambria" pitchFamily="34" charset="-122"/>
                <a:cs typeface="Cambria" pitchFamily="34" charset="-120"/>
              </a:rPr>
              <a:t>The compensation calculator</a:t>
            </a:r>
            <a:endParaRPr lang="en-US" sz="1600" dirty="0"/>
          </a:p>
        </p:txBody>
      </p:sp>
      <p:sp>
        <p:nvSpPr>
          <p:cNvPr id="8" name="Text 6"/>
          <p:cNvSpPr/>
          <p:nvPr/>
        </p:nvSpPr>
        <p:spPr>
          <a:xfrm>
            <a:off x="1463040" y="2258568"/>
            <a:ext cx="9966960" cy="658368"/>
          </a:xfrm>
          <a:prstGeom prst="rect">
            <a:avLst/>
          </a:prstGeom>
          <a:noFill/>
          <a:ln/>
        </p:spPr>
        <p:txBody>
          <a:bodyPr wrap="square" lIns="0" tIns="0" rIns="0" bIns="0" rtlCol="0" anchor="ctr"/>
          <a:lstStyle/>
          <a:p>
            <a:pPr indent="0" marL="0">
              <a:lnSpc>
                <a:spcPts val="1700"/>
              </a:lnSpc>
              <a:buNone/>
            </a:pPr>
            <a:r>
              <a:rPr lang="en-US" sz="1200" dirty="0">
                <a:solidFill>
                  <a:srgbClr val="4A5462"/>
                </a:solidFill>
                <a:latin typeface="Calibri" pitchFamily="34" charset="0"/>
                <a:ea typeface="Calibri" pitchFamily="34" charset="-122"/>
                <a:cs typeface="Calibri" pitchFamily="34" charset="-120"/>
              </a:rPr>
              <a:t>The Code sets the death formula as 50% of monthly wages multiplied by an age factor, but delegates both the minimum amount and the wage ceiling to Central Government notifications that are not in the Act. Until those are located, the bot explains how the amount is worked out and refuses to state a total. Enforced in code, not by instruction.</a:t>
            </a:r>
            <a:endParaRPr lang="en-US" sz="1200" dirty="0"/>
          </a:p>
        </p:txBody>
      </p:sp>
      <p:sp>
        <p:nvSpPr>
          <p:cNvPr id="9" name="Shape 7"/>
          <p:cNvSpPr/>
          <p:nvPr/>
        </p:nvSpPr>
        <p:spPr>
          <a:xfrm>
            <a:off x="594360" y="3200400"/>
            <a:ext cx="10972800" cy="1234440"/>
          </a:xfrm>
          <a:prstGeom prst="rect">
            <a:avLst/>
          </a:prstGeom>
          <a:solidFill>
            <a:srgbClr val="FFFFFF"/>
          </a:solidFill>
          <a:ln w="12700">
            <a:solidFill>
              <a:srgbClr val="D8DCE3"/>
            </a:solidFill>
            <a:prstDash val="solid"/>
          </a:ln>
        </p:spPr>
      </p:sp>
      <p:sp>
        <p:nvSpPr>
          <p:cNvPr id="10" name="Shape 8"/>
          <p:cNvSpPr/>
          <p:nvPr/>
        </p:nvSpPr>
        <p:spPr>
          <a:xfrm>
            <a:off x="868680" y="3611880"/>
            <a:ext cx="365760" cy="365760"/>
          </a:xfrm>
          <a:prstGeom prst="ellipse">
            <a:avLst/>
          </a:prstGeom>
          <a:solidFill>
            <a:srgbClr val="16203A"/>
          </a:solidFill>
          <a:ln/>
        </p:spPr>
      </p:sp>
      <p:sp>
        <p:nvSpPr>
          <p:cNvPr id="11" name="Text 9"/>
          <p:cNvSpPr/>
          <p:nvPr/>
        </p:nvSpPr>
        <p:spPr>
          <a:xfrm>
            <a:off x="868680" y="36118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463040" y="3364992"/>
            <a:ext cx="9966960" cy="320040"/>
          </a:xfrm>
          <a:prstGeom prst="rect">
            <a:avLst/>
          </a:prstGeom>
          <a:noFill/>
          <a:ln/>
        </p:spPr>
        <p:txBody>
          <a:bodyPr wrap="square" lIns="0" tIns="0" rIns="0" bIns="0" rtlCol="0" anchor="ctr"/>
          <a:lstStyle/>
          <a:p>
            <a:pPr indent="0" marL="0">
              <a:buNone/>
            </a:pPr>
            <a:r>
              <a:rPr lang="en-US" sz="1600" b="1" dirty="0">
                <a:solidFill>
                  <a:srgbClr val="16203A"/>
                </a:solidFill>
                <a:latin typeface="Cambria" pitchFamily="34" charset="0"/>
                <a:ea typeface="Cambria" pitchFamily="34" charset="-122"/>
                <a:cs typeface="Cambria" pitchFamily="34" charset="-120"/>
              </a:rPr>
              <a:t>Citing the settlement provision</a:t>
            </a:r>
            <a:endParaRPr lang="en-US" sz="1600" dirty="0"/>
          </a:p>
        </p:txBody>
      </p:sp>
      <p:sp>
        <p:nvSpPr>
          <p:cNvPr id="13" name="Text 11"/>
          <p:cNvSpPr/>
          <p:nvPr/>
        </p:nvSpPr>
        <p:spPr>
          <a:xfrm>
            <a:off x="1463040" y="3675888"/>
            <a:ext cx="9966960" cy="658368"/>
          </a:xfrm>
          <a:prstGeom prst="rect">
            <a:avLst/>
          </a:prstGeom>
          <a:noFill/>
          <a:ln/>
        </p:spPr>
        <p:txBody>
          <a:bodyPr wrap="square" lIns="0" tIns="0" rIns="0" bIns="0" rtlCol="0" anchor="ctr"/>
          <a:lstStyle/>
          <a:p>
            <a:pPr indent="0" marL="0">
              <a:lnSpc>
                <a:spcPts val="1700"/>
              </a:lnSpc>
              <a:buNone/>
            </a:pPr>
            <a:r>
              <a:rPr lang="en-US" sz="1200" dirty="0">
                <a:solidFill>
                  <a:srgbClr val="4A5462"/>
                </a:solidFill>
                <a:latin typeface="Calibri" pitchFamily="34" charset="0"/>
                <a:ea typeface="Calibri" pitchFamily="34" charset="-122"/>
                <a:cs typeface="Calibri" pitchFamily="34" charset="-120"/>
              </a:rPr>
              <a:t>The old blanket protection was repealed. The new Code protects families by a different mechanism, and a legal partner must confirm which provision applies before the bot cites anything.</a:t>
            </a:r>
            <a:endParaRPr lang="en-US" sz="1200" dirty="0"/>
          </a:p>
        </p:txBody>
      </p:sp>
      <p:sp>
        <p:nvSpPr>
          <p:cNvPr id="14" name="Shape 12"/>
          <p:cNvSpPr/>
          <p:nvPr/>
        </p:nvSpPr>
        <p:spPr>
          <a:xfrm>
            <a:off x="594360" y="4617720"/>
            <a:ext cx="10972800" cy="1234440"/>
          </a:xfrm>
          <a:prstGeom prst="rect">
            <a:avLst/>
          </a:prstGeom>
          <a:solidFill>
            <a:srgbClr val="FFFFFF"/>
          </a:solidFill>
          <a:ln w="12700">
            <a:solidFill>
              <a:srgbClr val="D8DCE3"/>
            </a:solidFill>
            <a:prstDash val="solid"/>
          </a:ln>
        </p:spPr>
      </p:sp>
      <p:sp>
        <p:nvSpPr>
          <p:cNvPr id="15" name="Shape 13"/>
          <p:cNvSpPr/>
          <p:nvPr/>
        </p:nvSpPr>
        <p:spPr>
          <a:xfrm>
            <a:off x="868680" y="5029200"/>
            <a:ext cx="365760" cy="365760"/>
          </a:xfrm>
          <a:prstGeom prst="ellipse">
            <a:avLst/>
          </a:prstGeom>
          <a:solidFill>
            <a:srgbClr val="16203A"/>
          </a:solidFill>
          <a:ln/>
        </p:spPr>
      </p:sp>
      <p:sp>
        <p:nvSpPr>
          <p:cNvPr id="16" name="Text 14"/>
          <p:cNvSpPr/>
          <p:nvPr/>
        </p:nvSpPr>
        <p:spPr>
          <a:xfrm>
            <a:off x="868680" y="50292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463040" y="4782312"/>
            <a:ext cx="9966960" cy="320040"/>
          </a:xfrm>
          <a:prstGeom prst="rect">
            <a:avLst/>
          </a:prstGeom>
          <a:noFill/>
          <a:ln/>
        </p:spPr>
        <p:txBody>
          <a:bodyPr wrap="square" lIns="0" tIns="0" rIns="0" bIns="0" rtlCol="0" anchor="ctr"/>
          <a:lstStyle/>
          <a:p>
            <a:pPr indent="0" marL="0">
              <a:buNone/>
            </a:pPr>
            <a:r>
              <a:rPr lang="en-US" sz="1600" b="1" dirty="0">
                <a:solidFill>
                  <a:srgbClr val="16203A"/>
                </a:solidFill>
                <a:latin typeface="Cambria" pitchFamily="34" charset="0"/>
                <a:ea typeface="Cambria" pitchFamily="34" charset="-122"/>
                <a:cs typeface="Cambria" pitchFamily="34" charset="-120"/>
              </a:rPr>
              <a:t>Answering in Punjabi</a:t>
            </a:r>
            <a:endParaRPr lang="en-US" sz="1600" dirty="0"/>
          </a:p>
        </p:txBody>
      </p:sp>
      <p:sp>
        <p:nvSpPr>
          <p:cNvPr id="18" name="Text 16"/>
          <p:cNvSpPr/>
          <p:nvPr/>
        </p:nvSpPr>
        <p:spPr>
          <a:xfrm>
            <a:off x="1463040" y="5093208"/>
            <a:ext cx="9966960" cy="658368"/>
          </a:xfrm>
          <a:prstGeom prst="rect">
            <a:avLst/>
          </a:prstGeom>
          <a:noFill/>
          <a:ln/>
        </p:spPr>
        <p:txBody>
          <a:bodyPr wrap="square" lIns="0" tIns="0" rIns="0" bIns="0" rtlCol="0" anchor="ctr"/>
          <a:lstStyle/>
          <a:p>
            <a:pPr indent="0" marL="0">
              <a:lnSpc>
                <a:spcPts val="1700"/>
              </a:lnSpc>
              <a:buNone/>
            </a:pPr>
            <a:r>
              <a:rPr lang="en-US" sz="1200" dirty="0">
                <a:solidFill>
                  <a:srgbClr val="4A5462"/>
                </a:solidFill>
                <a:latin typeface="Calibri" pitchFamily="34" charset="0"/>
                <a:ea typeface="Calibri" pitchFamily="34" charset="-122"/>
                <a:cs typeface="Calibri" pitchFamily="34" charset="-120"/>
              </a:rPr>
              <a:t>Speech input works today. Machine-translating a verified legal answer would put text in front of a family that passed none of the checks the English answer passed.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3A"/>
        </a:solidFill>
      </p:bgPr>
    </p:bg>
    <p:spTree>
      <p:nvGrpSpPr>
        <p:cNvPr id="1" name=""/>
        <p:cNvGrpSpPr/>
        <p:nvPr/>
      </p:nvGrpSpPr>
      <p:grpSpPr>
        <a:xfrm>
          <a:off x="0" y="0"/>
          <a:ext cx="0" cy="0"/>
          <a:chOff x="0" y="0"/>
          <a:chExt cx="0" cy="0"/>
        </a:xfrm>
      </p:grpSpPr>
      <p:sp>
        <p:nvSpPr>
          <p:cNvPr id="2" name="Text 0"/>
          <p:cNvSpPr/>
          <p:nvPr/>
        </p:nvSpPr>
        <p:spPr>
          <a:xfrm>
            <a:off x="594360" y="685800"/>
            <a:ext cx="5486400" cy="228600"/>
          </a:xfrm>
          <a:prstGeom prst="rect">
            <a:avLst/>
          </a:prstGeom>
          <a:noFill/>
          <a:ln/>
        </p:spPr>
        <p:txBody>
          <a:bodyPr wrap="square" lIns="0" tIns="0" rIns="0" bIns="0" rtlCol="0" anchor="ctr"/>
          <a:lstStyle/>
          <a:p>
            <a:pPr indent="0" marL="0">
              <a:buNone/>
            </a:pPr>
            <a:r>
              <a:rPr lang="en-US" sz="1050" b="1" spc="200" kern="0" dirty="0">
                <a:solidFill>
                  <a:srgbClr val="C9D4E8"/>
                </a:solidFill>
                <a:latin typeface="Calibri" pitchFamily="34" charset="0"/>
                <a:ea typeface="Calibri" pitchFamily="34" charset="-122"/>
                <a:cs typeface="Calibri" pitchFamily="34" charset="-120"/>
              </a:rPr>
              <a:t>WHAT COMES NEXT</a:t>
            </a:r>
            <a:endParaRPr lang="en-US" sz="1050" dirty="0"/>
          </a:p>
        </p:txBody>
      </p:sp>
      <p:sp>
        <p:nvSpPr>
          <p:cNvPr id="3" name="Text 1"/>
          <p:cNvSpPr/>
          <p:nvPr/>
        </p:nvSpPr>
        <p:spPr>
          <a:xfrm>
            <a:off x="594360" y="1051560"/>
            <a:ext cx="73152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Roadmap</a:t>
            </a:r>
            <a:endParaRPr lang="en-US" sz="3400" dirty="0"/>
          </a:p>
        </p:txBody>
      </p:sp>
      <p:sp>
        <p:nvSpPr>
          <p:cNvPr id="4" name="Shape 2"/>
          <p:cNvSpPr/>
          <p:nvPr/>
        </p:nvSpPr>
        <p:spPr>
          <a:xfrm>
            <a:off x="594360" y="2011680"/>
            <a:ext cx="5349240" cy="1234440"/>
          </a:xfrm>
          <a:prstGeom prst="rect">
            <a:avLst/>
          </a:prstGeom>
          <a:solidFill>
            <a:srgbClr val="1E2B4D"/>
          </a:solidFill>
          <a:ln/>
        </p:spPr>
      </p:sp>
      <p:sp>
        <p:nvSpPr>
          <p:cNvPr id="5" name="Text 3"/>
          <p:cNvSpPr/>
          <p:nvPr/>
        </p:nvSpPr>
        <p:spPr>
          <a:xfrm>
            <a:off x="868680" y="2148840"/>
            <a:ext cx="480060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Legal partner sign-off</a:t>
            </a:r>
            <a:endParaRPr lang="en-US" sz="1500" dirty="0"/>
          </a:p>
        </p:txBody>
      </p:sp>
      <p:sp>
        <p:nvSpPr>
          <p:cNvPr id="6" name="Text 4"/>
          <p:cNvSpPr/>
          <p:nvPr/>
        </p:nvSpPr>
        <p:spPr>
          <a:xfrm>
            <a:off x="868680" y="2468880"/>
            <a:ext cx="4800600" cy="685800"/>
          </a:xfrm>
          <a:prstGeom prst="rect">
            <a:avLst/>
          </a:prstGeom>
          <a:noFill/>
          <a:ln/>
        </p:spPr>
        <p:txBody>
          <a:bodyPr wrap="square" lIns="0" tIns="0" rIns="0" bIns="0" rtlCol="0" anchor="ctr"/>
          <a:lstStyle/>
          <a:p>
            <a:pPr indent="0" marL="0">
              <a:lnSpc>
                <a:spcPts val="1600"/>
              </a:lnSpc>
              <a:buNone/>
            </a:pPr>
            <a:r>
              <a:rPr lang="en-US" sz="1150" dirty="0">
                <a:solidFill>
                  <a:srgbClr val="C9D4E8"/>
                </a:solidFill>
                <a:latin typeface="Calibri" pitchFamily="34" charset="0"/>
                <a:ea typeface="Calibri" pitchFamily="34" charset="-122"/>
                <a:cs typeface="Calibri" pitchFamily="34" charset="-120"/>
              </a:rPr>
              <a:t>Two Central Government notifications, and the settlement wording. Nothing reaches a real family before this.</a:t>
            </a:r>
            <a:endParaRPr lang="en-US" sz="1150" dirty="0"/>
          </a:p>
        </p:txBody>
      </p:sp>
      <p:sp>
        <p:nvSpPr>
          <p:cNvPr id="7" name="Shape 5"/>
          <p:cNvSpPr/>
          <p:nvPr/>
        </p:nvSpPr>
        <p:spPr>
          <a:xfrm>
            <a:off x="6217920" y="2011680"/>
            <a:ext cx="5349240" cy="1234440"/>
          </a:xfrm>
          <a:prstGeom prst="rect">
            <a:avLst/>
          </a:prstGeom>
          <a:solidFill>
            <a:srgbClr val="1E2B4D"/>
          </a:solidFill>
          <a:ln/>
        </p:spPr>
      </p:sp>
      <p:sp>
        <p:nvSpPr>
          <p:cNvPr id="8" name="Text 6"/>
          <p:cNvSpPr/>
          <p:nvPr/>
        </p:nvSpPr>
        <p:spPr>
          <a:xfrm>
            <a:off x="6492240" y="2148840"/>
            <a:ext cx="480060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WhatsApp delivery</a:t>
            </a:r>
            <a:endParaRPr lang="en-US" sz="1500" dirty="0"/>
          </a:p>
        </p:txBody>
      </p:sp>
      <p:sp>
        <p:nvSpPr>
          <p:cNvPr id="9" name="Text 7"/>
          <p:cNvSpPr/>
          <p:nvPr/>
        </p:nvSpPr>
        <p:spPr>
          <a:xfrm>
            <a:off x="6492240" y="2468880"/>
            <a:ext cx="4800600" cy="685800"/>
          </a:xfrm>
          <a:prstGeom prst="rect">
            <a:avLst/>
          </a:prstGeom>
          <a:noFill/>
          <a:ln/>
        </p:spPr>
        <p:txBody>
          <a:bodyPr wrap="square" lIns="0" tIns="0" rIns="0" bIns="0" rtlCol="0" anchor="ctr"/>
          <a:lstStyle/>
          <a:p>
            <a:pPr indent="0" marL="0">
              <a:lnSpc>
                <a:spcPts val="1600"/>
              </a:lnSpc>
              <a:buNone/>
            </a:pPr>
            <a:r>
              <a:rPr lang="en-US" sz="1150" dirty="0">
                <a:solidFill>
                  <a:srgbClr val="C9D4E8"/>
                </a:solidFill>
                <a:latin typeface="Calibri" pitchFamily="34" charset="0"/>
                <a:ea typeface="Calibri" pitchFamily="34" charset="-122"/>
                <a:cs typeface="Calibri" pitchFamily="34" charset="-120"/>
              </a:rPr>
              <a:t>Webhook, signature verification and rate limiting are built and tested. A trial account cannot send free-form messages; the upgrade is the only blocker.</a:t>
            </a:r>
            <a:endParaRPr lang="en-US" sz="1150" dirty="0"/>
          </a:p>
        </p:txBody>
      </p:sp>
      <p:sp>
        <p:nvSpPr>
          <p:cNvPr id="10" name="Shape 8"/>
          <p:cNvSpPr/>
          <p:nvPr/>
        </p:nvSpPr>
        <p:spPr>
          <a:xfrm>
            <a:off x="594360" y="3474720"/>
            <a:ext cx="5349240" cy="1234440"/>
          </a:xfrm>
          <a:prstGeom prst="rect">
            <a:avLst/>
          </a:prstGeom>
          <a:solidFill>
            <a:srgbClr val="1E2B4D"/>
          </a:solidFill>
          <a:ln/>
        </p:spPr>
      </p:sp>
      <p:sp>
        <p:nvSpPr>
          <p:cNvPr id="11" name="Text 9"/>
          <p:cNvSpPr/>
          <p:nvPr/>
        </p:nvSpPr>
        <p:spPr>
          <a:xfrm>
            <a:off x="868680" y="3611880"/>
            <a:ext cx="480060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Voice in Hindi and Punjabi</a:t>
            </a:r>
            <a:endParaRPr lang="en-US" sz="1500" dirty="0"/>
          </a:p>
        </p:txBody>
      </p:sp>
      <p:sp>
        <p:nvSpPr>
          <p:cNvPr id="12" name="Text 10"/>
          <p:cNvSpPr/>
          <p:nvPr/>
        </p:nvSpPr>
        <p:spPr>
          <a:xfrm>
            <a:off x="868680" y="3931920"/>
            <a:ext cx="4800600" cy="685800"/>
          </a:xfrm>
          <a:prstGeom prst="rect">
            <a:avLst/>
          </a:prstGeom>
          <a:noFill/>
          <a:ln/>
        </p:spPr>
        <p:txBody>
          <a:bodyPr wrap="square" lIns="0" tIns="0" rIns="0" bIns="0" rtlCol="0" anchor="ctr"/>
          <a:lstStyle/>
          <a:p>
            <a:pPr indent="0" marL="0">
              <a:lnSpc>
                <a:spcPts val="1600"/>
              </a:lnSpc>
              <a:buNone/>
            </a:pPr>
            <a:r>
              <a:rPr lang="en-US" sz="1150" dirty="0">
                <a:solidFill>
                  <a:srgbClr val="C9D4E8"/>
                </a:solidFill>
                <a:latin typeface="Calibri" pitchFamily="34" charset="0"/>
                <a:ea typeface="Calibri" pitchFamily="34" charset="-122"/>
                <a:cs typeface="Calibri" pitchFamily="34" charset="-120"/>
              </a:rPr>
              <a:t>Speech-to-text is available on the existing stack. Speech output waits for a translator a lawyer trusts.</a:t>
            </a:r>
            <a:endParaRPr lang="en-US" sz="1150" dirty="0"/>
          </a:p>
        </p:txBody>
      </p:sp>
      <p:sp>
        <p:nvSpPr>
          <p:cNvPr id="13" name="Shape 11"/>
          <p:cNvSpPr/>
          <p:nvPr/>
        </p:nvSpPr>
        <p:spPr>
          <a:xfrm>
            <a:off x="6217920" y="3474720"/>
            <a:ext cx="5349240" cy="1234440"/>
          </a:xfrm>
          <a:prstGeom prst="rect">
            <a:avLst/>
          </a:prstGeom>
          <a:solidFill>
            <a:srgbClr val="1E2B4D"/>
          </a:solidFill>
          <a:ln/>
        </p:spPr>
      </p:sp>
      <p:sp>
        <p:nvSpPr>
          <p:cNvPr id="14" name="Text 12"/>
          <p:cNvSpPr/>
          <p:nvPr/>
        </p:nvSpPr>
        <p:spPr>
          <a:xfrm>
            <a:off x="6492240" y="3611880"/>
            <a:ext cx="480060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Union-led distribution</a:t>
            </a:r>
            <a:endParaRPr lang="en-US" sz="1500" dirty="0"/>
          </a:p>
        </p:txBody>
      </p:sp>
      <p:sp>
        <p:nvSpPr>
          <p:cNvPr id="15" name="Text 13"/>
          <p:cNvSpPr/>
          <p:nvPr/>
        </p:nvSpPr>
        <p:spPr>
          <a:xfrm>
            <a:off x="6492240" y="3931920"/>
            <a:ext cx="4800600" cy="685800"/>
          </a:xfrm>
          <a:prstGeom prst="rect">
            <a:avLst/>
          </a:prstGeom>
          <a:noFill/>
          <a:ln/>
        </p:spPr>
        <p:txBody>
          <a:bodyPr wrap="square" lIns="0" tIns="0" rIns="0" bIns="0" rtlCol="0" anchor="ctr"/>
          <a:lstStyle/>
          <a:p>
            <a:pPr indent="0" marL="0">
              <a:lnSpc>
                <a:spcPts val="1600"/>
              </a:lnSpc>
              <a:buNone/>
            </a:pPr>
            <a:r>
              <a:rPr lang="en-US" sz="1150" dirty="0">
                <a:solidFill>
                  <a:srgbClr val="C9D4E8"/>
                </a:solidFill>
                <a:latin typeface="Calibri" pitchFamily="34" charset="0"/>
                <a:ea typeface="Calibri" pitchFamily="34" charset="-122"/>
                <a:cs typeface="Calibri" pitchFamily="34" charset="-120"/>
              </a:rPr>
              <a:t>The families who need this do not search for it. CITU and HMS reach them; a legal-aid partner gives the answers authority.</a:t>
            </a:r>
            <a:endParaRPr lang="en-US" sz="1150" dirty="0"/>
          </a:p>
        </p:txBody>
      </p:sp>
      <p:sp>
        <p:nvSpPr>
          <p:cNvPr id="16" name="Text 14"/>
          <p:cNvSpPr/>
          <p:nvPr/>
        </p:nvSpPr>
        <p:spPr>
          <a:xfrm>
            <a:off x="594360" y="5257800"/>
            <a:ext cx="10972800" cy="914400"/>
          </a:xfrm>
          <a:prstGeom prst="rect">
            <a:avLst/>
          </a:prstGeom>
          <a:noFill/>
          <a:ln/>
        </p:spPr>
        <p:txBody>
          <a:bodyPr wrap="square" lIns="0" tIns="0" rIns="0" bIns="0" rtlCol="0" anchor="ctr"/>
          <a:lstStyle/>
          <a:p>
            <a:pPr indent="0" marL="0">
              <a:lnSpc>
                <a:spcPts val="2600"/>
              </a:lnSpc>
              <a:buNone/>
            </a:pPr>
            <a:r>
              <a:rPr lang="en-US" sz="1700" i="1" dirty="0">
                <a:solidFill>
                  <a:srgbClr val="FFFFFF"/>
                </a:solidFill>
                <a:latin typeface="Cambria" pitchFamily="34" charset="0"/>
                <a:ea typeface="Cambria" pitchFamily="34" charset="-122"/>
                <a:cs typeface="Cambria" pitchFamily="34" charset="-120"/>
              </a:rPr>
              <a:t>The interesting problem was never building a chatbot. It was discovering that the obvious safety mechanisms don't work, and replacing each one with something deterministic.</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Factory Accident Support Bot</dc:title>
  <dc:subject>PptxGenJS Presentation</dc:subject>
  <dc:creator>Factory Accident Support Bot</dc:creator>
  <cp:lastModifiedBy>Factory Accident Support Bot</cp:lastModifiedBy>
  <cp:revision>1</cp:revision>
  <dcterms:created xsi:type="dcterms:W3CDTF">2026-09-29T20:48:14Z</dcterms:created>
  <dcterms:modified xsi:type="dcterms:W3CDTF">2026-09-29T20:48:14Z</dcterms:modified>
</cp:coreProperties>
</file>